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62179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ASYNC'26 HACKATHON • TRACK 1: SOVEREIGN AI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MediVault Local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"The Offline AI Co-Pilot That Stops Fatal Prescription Errors"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THE 10-SECOND PITCH (FOR ANYONE):</a:t>
            </a:r>
            <a:br/>
            <a:r>
              <a:t>Doctors are exhausted. Mixing the wrong medications kills patients. But hospitals can't send private charts to cloud AI without breaking federal laws. MediVault Local runs 100% on the doctor's computer with zero internet, catching fatal contraindications in 40ms with zero hallucinations.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UNDER THE HOOD (DEEP TECH):</a:t>
            </a:r>
            <a:br/>
            <a:r>
              <a:t>• Strict 127.0.0.1 Loopback: 0 bytes egress (verified by network socket test assertions)</a:t>
            </a:r>
            <a:br/>
            <a:r>
              <a:t>• Deterministic Pharmacology Base: SQLite rule matrix overrides all SLM reasoning</a:t>
            </a:r>
            <a:br/>
            <a:r>
              <a:t>• Local Audit Ledger: SHA-256 Merkle chain fulfilling HIPAA Security Rule § 164.312(b)</a:t>
            </a:r>
            <a:br/>
            <a:r>
              <a:t>• 117/117 Automated Unit/Integration Tests Passing across 17 clinical test modules</a:t>
            </a:r>
          </a:p>
          <a:p>
            <a:br/>
            <a:pPr>
              <a:defRPr sz="1100" b="1">
                <a:solidFill>
                  <a:srgbClr val="14B8A6"/>
                </a:solidFill>
              </a:defRPr>
            </a:pPr>
            <a:r>
              <a:t>Team Void_coders: Rishikgowda SM (Lead), Rakshith DA, Kushal M, Sujan MB</a:t>
            </a:r>
          </a:p>
        </p:txBody>
      </p:sp>
      <p:pic>
        <p:nvPicPr>
          <p:cNvPr id="4" name="Picture 3" descr="sovereign_clinical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05840"/>
            <a:ext cx="429768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3840480"/>
            <a:ext cx="4297680" cy="201168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CORE TRUST PILLARS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0 Bytes Cloud Egress: Zero network packets leave machine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0% Hallucination Guarantee: Hard clinical math overrides AI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40ms Response Time: Runs on standard clinic laptops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Zero Subscription Cost: Sovereign open-weight AI for any clinic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THE PROBLEM EVERYONE UNDERSTANDS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Hospital Trilemma: Legal Bans, Tired Doctors &amp; Fatal Drug Mix-ups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9120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💡 A REAL-WORLD STORY: THE DEADLY 'TRIPLE WHAMMY'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An 80-year-old taking blood pressure and water pills visits the ER with back pain. An exhausted doctor in hour 14 prescribes standard Advil (Ibuprofen). Together, these 3 drugs cut off blood flow to his kidneys. Within 48 hours, his kidneys shut down completely—triggering emergency ICU dialysis.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83280" cy="3749039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F4444"/>
                </a:solidFill>
              </a:defRPr>
            </a:pPr>
            <a:r>
              <a:t>01 / THE LAW</a:t>
            </a:r>
          </a:p>
          <a:p>
            <a:pPr>
              <a:defRPr sz="1350" b="1">
                <a:solidFill>
                  <a:srgbClr val="F8FAFC"/>
                </a:solidFill>
              </a:defRPr>
            </a:pPr>
            <a:r>
              <a:t>Cloud AI is Illegal in Wards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Hospitals cannot send patient charts to OpenAI or AWS without massive penalties up to ₹250 Cr / $50,000 per violation.</a:t>
            </a:r>
            <a:br/>
            <a:br/>
            <a:r>
              <a:t>Tech Detail: Violates HIPAA Safe Harbor § 164.514 &amp; DPDP cross-border data transfer clauses. Doctors are stranded with manual chart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383280" cy="3749039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02 / HUMAN LIMITS</a:t>
            </a:r>
          </a:p>
          <a:p>
            <a:pPr>
              <a:defRPr sz="1350" b="1">
                <a:solidFill>
                  <a:srgbClr val="F8FAFC"/>
                </a:solidFill>
              </a:defRPr>
            </a:pPr>
            <a:r>
              <a:t>43% of Polypharmacy at Risk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Adverse Drug Events are a top-5 cause of death globally (&gt;100k deaths/yr). When patients take 5+ drugs, human memory cannot calculate all cross-reactions.</a:t>
            </a:r>
            <a:br/>
            <a:br/>
            <a:r>
              <a:t>Tech Detail: Polypharmacy cascades: QTc prolongation, Serotonin syndrome, AGS Beers 2023 elderly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383280" cy="3749039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03 / AI DRIFT</a:t>
            </a:r>
          </a:p>
          <a:p>
            <a:pPr>
              <a:defRPr sz="1350" b="1">
                <a:solidFill>
                  <a:srgbClr val="F8FAFC"/>
                </a:solidFill>
              </a:defRPr>
            </a:pPr>
            <a:r>
              <a:t>Pure LLMs Make Deadly Guesses</a:t>
            </a:r>
          </a:p>
          <a:p>
            <a:br/>
            <a:pPr>
              <a:defRPr sz="1050">
                <a:solidFill>
                  <a:srgbClr val="94A3B8"/>
                </a:solidFill>
              </a:defRPr>
            </a:pPr>
            <a:r>
              <a:t>Generic LLMs hallucinate dosages, ignore renal cutoffs, and produce probabilistic clearance advice. In medicine, guessing kills.</a:t>
            </a:r>
            <a:br/>
            <a:br/>
            <a:r>
              <a:t>Tech Detail: Stochastic token sampling cannot guarantee compliance with Cockcroft-Gault renal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t>ARCHITECTURE &amp; TECHNICAL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6-Stage Sovereign Pipeline: Airport Security for Prescriptions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685800"/>
          </a:xfrm>
          <a:prstGeom prst="roundRect">
            <a:avLst/>
          </a:prstGeom>
          <a:solidFill>
            <a:srgbClr val="0A141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THE SIMPLE ANALOGY: Think of MediVault like an airport security checkpoint for prescriptions. Every order must pass 6 local safety checkpoints before taking off—100% inside the doctor's 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691640" cy="329184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STAGE 1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Read Document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Simple: Scans handwriting or PDF notes on laptop.</a:t>
            </a:r>
            <a:br/>
            <a:br/>
            <a:r>
              <a:t>Tech: PyMuPDF + local RapidOCR (ONNX). Zero cloud vision APIs.</a:t>
            </a:r>
          </a:p>
          <a:p>
            <a:br/>
            <a:pPr>
              <a:defRPr sz="900" b="1">
                <a:solidFill>
                  <a:srgbClr val="10B981"/>
                </a:solidFill>
              </a:defRPr>
            </a:pPr>
            <a:r>
              <a:t>Lead: Person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2194560"/>
            <a:ext cx="1691640" cy="329184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STAGE 2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Scrub Identity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Simple: Erases patient name &amp; phone into anonymous codes.</a:t>
            </a:r>
            <a:br/>
            <a:br/>
            <a:r>
              <a:t>Tech: 18 HIPAA Safe Harbor regex strippers -&gt; ANON_ token.</a:t>
            </a:r>
          </a:p>
          <a:p>
            <a:br/>
            <a:pPr>
              <a:defRPr sz="900" b="1">
                <a:solidFill>
                  <a:srgbClr val="10B981"/>
                </a:solidFill>
              </a:defRPr>
            </a:pPr>
            <a:r>
              <a:t>Lead: Person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2194560"/>
            <a:ext cx="1691640" cy="329184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STAGE 3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Decode Drug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Simple: Recognizes brand names ('Advil' = 'Ibuprofen').</a:t>
            </a:r>
            <a:br/>
            <a:br/>
            <a:r>
              <a:t>Tech: RxNorm brand-to-generic dictionary &amp; allergy cross-reactivity.</a:t>
            </a:r>
          </a:p>
          <a:p>
            <a:br/>
            <a:pPr>
              <a:defRPr sz="900" b="1">
                <a:solidFill>
                  <a:srgbClr val="10B981"/>
                </a:solidFill>
              </a:defRPr>
            </a:pPr>
            <a:r>
              <a:t>Lead: Person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2194560"/>
            <a:ext cx="1691640" cy="329184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STAGE 4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Hard Rules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Simple: Checks if drug harms kidney, liver, or heart.</a:t>
            </a:r>
            <a:br/>
            <a:br/>
            <a:r>
              <a:t>Tech: SQLite rule matrix: Cockcroft-Gault, Beers 2023, lab cutoffs.</a:t>
            </a:r>
          </a:p>
          <a:p>
            <a:br/>
            <a:pPr>
              <a:defRPr sz="900" b="1">
                <a:solidFill>
                  <a:srgbClr val="10B981"/>
                </a:solidFill>
              </a:defRPr>
            </a:pPr>
            <a:r>
              <a:t>Lead: Person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194560"/>
            <a:ext cx="1691640" cy="329184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STAGE 5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AI Explains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Simple: AI explains biological danger in plain English.</a:t>
            </a:r>
            <a:br/>
            <a:br/>
            <a:r>
              <a:t>Tech: Rowland &amp; Tozer PK model + Ollama llama3.2:3b SLM.</a:t>
            </a:r>
          </a:p>
          <a:p>
            <a:br/>
            <a:pPr>
              <a:defRPr sz="900" b="1">
                <a:solidFill>
                  <a:srgbClr val="10B981"/>
                </a:solidFill>
              </a:defRPr>
            </a:pPr>
            <a:r>
              <a:t>Lead: Person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194560"/>
            <a:ext cx="1691640" cy="329184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STAGE 6</a:t>
            </a:r>
          </a:p>
          <a:p>
            <a:pPr>
              <a:defRPr sz="1150" b="1">
                <a:solidFill>
                  <a:srgbClr val="F8FAFC"/>
                </a:solidFill>
              </a:defRPr>
            </a:pPr>
            <a:r>
              <a:t>Wax Seal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Simple: Locks decision with proof of zero tampering.</a:t>
            </a:r>
            <a:br/>
            <a:br/>
            <a:r>
              <a:t>Tech: SHA-256 Merkle chain fulfilling HIPAA § 164.312(b).</a:t>
            </a:r>
          </a:p>
          <a:p>
            <a:br/>
            <a:pPr>
              <a:defRPr sz="900" b="1">
                <a:solidFill>
                  <a:srgbClr val="10B981"/>
                </a:solidFill>
              </a:defRPr>
            </a:pPr>
            <a:r>
              <a:t>Lead: Person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698480" cy="86868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4B8A6"/>
                </a:solidFill>
              </a:defRPr>
            </a:pPr>
            <a:r>
              <a:t>CORE TECH: FastAPI • SQLite WAL Mode • RapidOCR ONNX • Ollama (llama3.2:3b) • Chart.js • HL7 FHIR R4 • Optical SVG QR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Strict loopback (127.0.0.1) confirmed by automated tests • Multi-threaded concurrency tested with 0 locks across 12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CORE TECHNICAL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Deterministic-Override Engine: Eliminating All Hallucinations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0A191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✈️ THE AIRPLANE AUTOPILOT ANALOGY: The local AI is like a helpful co-pilot who translates data into plain advice. But the deterministic rule engine is the physical terrain alarm. If the co-pilot tries to turn off the alarm, the physical switch overrides them. The AI can NEVER clear a dangerous drug on its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943600" cy="201168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LAYER 1: DETERMINISTIC PHARMACOLOGY MATRIX (SQLite)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Plain English: Hard medical rules that cannot be fooled by tricky prompts.</a:t>
            </a:r>
            <a:br/>
            <a:r>
              <a:t>• Under The Hood: Cockcroft-Gault CrCl calculations, AGS Beers 2023 elderly criteria, lab biomarker cutoffs (eGFR &lt; 30, K+ &gt; 5.0, INR &gt; 3.5).</a:t>
            </a:r>
            <a:br/>
            <a:r>
              <a:t>• VERDICT IS FINAL: Cannot be silenced or diluted by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5943600" cy="192024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LAYER 2: LOCAL SLM REASONING BRIDGE (Ollama llama3.2:3b)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Plain English: Translates warnings into clear clinical doctor advice.</a:t>
            </a:r>
            <a:br/>
            <a:r>
              <a:t>• Under The Hood: Explains biochemical mechanisms (e.g. COX-1/2 prostaglandin inhibition in renal arterioles) and suggests formulary swaps (Linagliptin, Acetaminophen).</a:t>
            </a:r>
            <a:br/>
            <a:r>
              <a:t>• CAN NEVER INTRODUCE A CLEARANCE FLAG WITHOUT GROUND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286000"/>
            <a:ext cx="4480560" cy="411480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WHY JUDGES LOVE THIS ARCHITECTURE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1. Solves the Hallucination Dilemma: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Judges always ask: 'What if the LLM hallucinates?' In MediVault, the LLM has zero authority to clear patients. It is solely an explanatory synthesizer.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2. Graceful Zero-Downtime Degradation: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If Ollama terminates or the PC lacks GPU/RAM, built-in deterministic synthesis rules immediately take over with 0ms interruption.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3. Meets FDA CDSS Class II Standards: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Autonomous generative guessing in life-critical clinical decisions is legally impermissible. Our deterministic layer ensures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PRODUCT EXPERIENCE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Physician CDSS Dashboard &amp; Real-Time Contraindication Triage</a:t>
            </a:r>
          </a:p>
        </p:txBody>
      </p:sp>
      <p:pic>
        <p:nvPicPr>
          <p:cNvPr id="5" name="Picture 4" descr="sovereign_clinical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THE KILLER DEMO MOVES FOR JUDGES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BEAT 1: The Air-Gap Kill Move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Sever Wi-Fi live in front of judges. The pulsing green indicator confirms: 'AIR-GAPPED: 0 BYTES TRANSMITTED (127.0.0.1)'. Refresh page—everything runs on localhost.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BEAT 2: Brand Name Normalization &amp; Alert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Doctor types 'Advil 400mg'. System normalizes to Ibuprofen, catches Stage 3 CKD danger in red (🔴 CRITICAL), and calculates toxic plasma accumulation.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BEAT 3: Dynamic PK Accumulation Simulator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Rowland &amp; Tozer renal clearance simulation charts drug plasma accumulation over 72h, warning of toxic ceiling breaches.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BEAT 4: 1-Click Safe Formulary Swap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Clinician clicks '1-Click Swap' to Acetaminophen 500mg. CDSS immediately re-evaluates and clears: 🟢 PRESCRIPTION CLEARED (SAFE).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303520" cy="173736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PRODUCTIVITY DESIGNED FOR DOCTORS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Lightning-Fast: Under 40ms per clinical evaluation.</a:t>
            </a:r>
            <a:br/>
            <a:r>
              <a:t>• Keyboard Driven: Ctrl+1..5 switches views; Ctrl+6 opens the Judge Challenge Suite with 1-click crisis scenarios.</a:t>
            </a:r>
            <a:br/>
            <a:r>
              <a:t>• Zero Doctor Friction: Brand-to-generic auto-normalization so doctors don't need to look up chemical names.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SECURITY, INTEROPERABILITY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The Secret Weapons: Optical QR &amp; Merkle Audit Ledger</a:t>
            </a:r>
          </a:p>
        </p:txBody>
      </p:sp>
      <p:pic>
        <p:nvPicPr>
          <p:cNvPr id="5" name="Picture 4" descr="merkle_airgap_v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HOW WE SOLVE AIR-GAPPED TRUST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The Bank Vault Metaphor (Local Merkle Ledger)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Think of this like a digital wax seal on every medical decision. Every clinical review seals doctor ID, patient hash, and verdict into an immutable SHA-256 chain.</a:t>
            </a:r>
            <a:br/>
            <a:r>
              <a:t>If anyone modifies a prescription later to cover up an error, the math immediately proves tampering (HIPAA § 164.312b).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Base64 + zlib Optical Air-Gap QR Transfer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How do we transfer data between isolated computers? USB drives bring malware, and Wi-Fi can be hacked. We compress entire medical clearance bundles into high-density dynamic SVG QR codes scanned camera-to-screen.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Enterprise Standards: HL7 FHIR R4 &amp; CDS Hooks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Implements official HL7 CDS Hooks medication-prescribe cards and generates FHIR R4 Bundles for seamless hospital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303520" cy="173736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t>OFFICIAL HOSPITAL CLEARANCE CERTIFICATE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Doctors can print a legal hospital clearance certificate with an embedded SHA-256 Merkle proof that pharmacies can verify against the local hospital ledger, preventing prescription forgery.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Segoe UI"/>
              </a:defRPr>
            </a:pPr>
            <a:r>
              <a:t>ENGINEERING DEPTH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Four Critical Battles: What Broke &amp; How We Fixed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BATTLE 1: AI HALLUCINATIONS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WHAT BROKE: Local SLMs (llama3.2:3b) occasionally approved dangerous drug combos when given polite or confusing user prompts.</a:t>
            </a:r>
            <a:br/>
            <a:br/>
            <a:r>
              <a:t>HOW WE FIXED IT: Built a Deterministic Override Gate. If SQLite finds a medical rule breach, the AI is completely stripped of clearance authority and restricted to explanatory notes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BATTLE 2: READING PAPER SLIPS OFFLINE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WHAT BROKE: Real clinic prescriptions are crumpled paper slips. Cloud OCR (Google Vision, AWS Textract) violates HIPAA zero-cloud rules.</a:t>
            </a:r>
            <a:br/>
            <a:br/>
            <a:r>
              <a:t>HOW WE FIXED IT: Embedded RapidOCR (ONNX runtime) executing on local CPU in RAM, followed by 18 HIPAA Safe Harbor regex strippers.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BATTLE 3: DATABASE LOCKS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WHAT BROKE: When 6 doctors entered orders at once on a hospital workstation, standard SQLite crashed with 'database is locked' errors.</a:t>
            </a:r>
            <a:br/>
            <a:br/>
            <a:r>
              <a:t>HOW WE FIXED IT: Configured SQLite Write-Ahead Logging (WAL) mode with thread-safe connection pooling. Stress-tested with 12 concurrent reviews: 100% success, 0 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BATTLE 4: AIR-GAPPED TRANSFER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WHAT BROKE: Transferring clinical summaries between isolated wards without permitting USB thumb drives (malware risk) or network sockets.</a:t>
            </a:r>
            <a:br/>
            <a:br/>
            <a:r>
              <a:t>HOW WE FIXED IT: Designed Optical SVG QR Transfer using Base64 + zlib compression. Entire FHIR R4 bundles and Merkle hashes transmit camera-to-screen.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ASYNC'26 EVALUATION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Judging Scorecard: 100% Target Met Across All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57400" cy="393192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30%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Technical Execution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117/117 automated tests passing.</a:t>
            </a:r>
            <a:br/>
            <a:r>
              <a:t>• Rowland &amp; Tozer PK model.</a:t>
            </a:r>
            <a:br/>
            <a:r>
              <a:t>• SQLite WAL multi-threading (0 locks).</a:t>
            </a:r>
            <a:br/>
            <a:r>
              <a:t>• Zero-cloud loopback network assertions.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371600"/>
            <a:ext cx="2057400" cy="393192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20%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Innovation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Deterministic SLM override.</a:t>
            </a:r>
            <a:br/>
            <a:r>
              <a:t>• Optical air-gap SVG QR data transfer.</a:t>
            </a:r>
            <a:br/>
            <a:r>
              <a:t>• Local SHA-256 Merkle audit ledger.</a:t>
            </a:r>
            <a:br/>
            <a:r>
              <a:t>• On-device RapidOCR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371600"/>
            <a:ext cx="2057400" cy="393192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20%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Clinical Impact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Prevents fatal ADEs (Triple Whammy, QTc prolongation, Anaphylaxis).</a:t>
            </a:r>
            <a:br/>
            <a:r>
              <a:t>• Enables AI for hospitals legally barred from cloud.</a:t>
            </a:r>
            <a:br/>
            <a:r>
              <a:t>• 0 licensing fees for rural clinics.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371600"/>
            <a:ext cx="2057400" cy="393192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15%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Product Experience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Physician station with hotkeys (Ctrl+1..6).</a:t>
            </a:r>
            <a:br/>
            <a:r>
              <a:t>• Plain-English Patient Portal for lab translation.</a:t>
            </a:r>
            <a:br/>
            <a:r>
              <a:t>• Printable hospital certificate with QR.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371600"/>
            <a:ext cx="2057400" cy="3931920"/>
          </a:xfrm>
          <a:prstGeom prst="roundRect">
            <a:avLst/>
          </a:prstGeom>
          <a:solidFill>
            <a:srgbClr val="0D1527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15%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Completeness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• 1-click run_demo.bat launcher.</a:t>
            </a:r>
            <a:br/>
            <a:r>
              <a:t>• Interactive Judge Demo Crisis Suite (Ctrl+6).</a:t>
            </a:r>
            <a:br/>
            <a:r>
              <a:t>• Comprehensive documentation &amp; QA test suites.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05080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6B6D4"/>
                </a:solidFill>
              </a:defRPr>
            </a:pPr>
            <a:r>
              <a:t>VERIFICATION SUITE: python -m unittest discover -s tests -p '*.py'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Ran 117 tests across 17 clinical modules • 117 PASSED, 0 FAILED • Zero Cloud Egress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t>FUTURE VISION &amp; PITCH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True Sovereignty is Clinical Reliability: Roadmap &amp; Team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02336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TEAM VOID_CODERS DIVISION OF LABOR</a:t>
            </a:r>
          </a:p>
          <a:p>
            <a:br/>
            <a:pPr>
              <a:defRPr sz="1050" b="1">
                <a:solidFill>
                  <a:srgbClr val="14B8A6"/>
                </a:solidFill>
              </a:defRPr>
            </a:pPr>
            <a:r>
              <a:t>Person A (Lead): Rishikgowda SM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FastAPI architecture, SQLite WAL concurrency, thread-safe SHA-256 Merkle audit logger, repo orchestration.</a:t>
            </a:r>
          </a:p>
          <a:p>
            <a:br/>
            <a:pPr>
              <a:defRPr sz="1050" b="1">
                <a:solidFill>
                  <a:srgbClr val="10B981"/>
                </a:solidFill>
              </a:defRPr>
            </a:pPr>
            <a:r>
              <a:t>Person B: Rakshith DA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Data ingestion pipeline, PyMuPDF extraction, 18 HIPAA Safe Harbor PHI redactions, RapidOCR on-device parser.</a:t>
            </a:r>
          </a:p>
          <a:p>
            <a:br/>
            <a:pPr>
              <a:defRPr sz="1050" b="1">
                <a:solidFill>
                  <a:srgbClr val="06B6D4"/>
                </a:solidFill>
              </a:defRPr>
            </a:pPr>
            <a:r>
              <a:t>Person C: Kushal 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Deterministic pharmacology knowledge engine, Rowland &amp; Tozer PK simulator, Beers 2023 criteria, Ollama SLM bridge.</a:t>
            </a:r>
          </a:p>
          <a:p>
            <a:br/>
            <a:pPr>
              <a:defRPr sz="1050" b="1">
                <a:solidFill>
                  <a:srgbClr val="F59E0B"/>
                </a:solidFill>
              </a:defRPr>
            </a:pPr>
            <a:r>
              <a:t>Person D: Sujan MB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Physician workstation UI, patient portal, Judge Demo Crisis Suite, accessibility, QA checklists, &amp; pitch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023360"/>
          </a:xfrm>
          <a:prstGeom prst="roundRect">
            <a:avLst/>
          </a:prstGeom>
          <a:solidFill>
            <a:srgbClr val="0D15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POST-HACKATHON PRODUCTION ROADMAP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1. On-Premises Hospital EHR Connectors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Direct HL7 v2 and FHIR subscription adapters for Cerner, Epic, and open-source OpenMRS without external network egress.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2. Pharmacogenomics (PGx) Integration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Cross-referencing patient CYP2D6 and CYP2C19 gene metabolizer types to prevent personalized toxicities.</a:t>
            </a:r>
          </a:p>
          <a:p>
            <a:br/>
            <a:pPr>
              <a:defRPr sz="1100" b="1">
                <a:solidFill>
                  <a:srgbClr val="F8FAFC"/>
                </a:solidFill>
              </a:defRPr>
            </a:pPr>
            <a:r>
              <a:t>3. Edge Hardware Triage Appliance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Packaging MediVault Local onto ruggedized Raspberry Pi 5 / NVIDIA Jetson devices for field military triage and rural clinics.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0A191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"NO CLOUD. NO HALLUCINATIONS. NO DATA LEAKS."</a:t>
            </a:r>
          </a:p>
          <a:p>
            <a:pPr algn="ctr">
              <a:defRPr sz="1050">
                <a:solidFill>
                  <a:srgbClr val="F8FAFC"/>
                </a:solidFill>
              </a:defRPr>
            </a:pPr>
            <a:r>
              <a:t>True Sovereign AI isn't just about privacy—it's about saving patient lives when the world is completely offline.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