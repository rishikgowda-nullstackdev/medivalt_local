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94360"/>
            <a:ext cx="3291840" cy="274320"/>
          </a:xfrm>
          <a:prstGeom prst="roundRect">
            <a:avLst/>
          </a:prstGeom>
          <a:solidFill>
            <a:srgbClr val="0C231C"/>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109728"/>
          <a:lstStyle/>
          <a:p>
            <a:pPr algn="ctr">
              <a:defRPr sz="950" b="1">
                <a:solidFill>
                  <a:srgbClr val="10B981"/>
                </a:solidFill>
                <a:latin typeface="Segoe UI"/>
              </a:defRPr>
            </a:pPr>
            <a:r>
              <a:t>ASYNC'26 HACKATHON | TRACK 1: SOVEREIGN AI</a:t>
            </a:r>
          </a:p>
        </p:txBody>
      </p:sp>
      <p:sp>
        <p:nvSpPr>
          <p:cNvPr id="4" name="TextBox 3"/>
          <p:cNvSpPr txBox="1"/>
          <p:nvPr/>
        </p:nvSpPr>
        <p:spPr>
          <a:xfrm>
            <a:off x="731520" y="960120"/>
            <a:ext cx="6400800" cy="1188720"/>
          </a:xfrm>
          <a:prstGeom prst="rect">
            <a:avLst/>
          </a:prstGeom>
          <a:noFill/>
        </p:spPr>
        <p:txBody>
          <a:bodyPr wrap="square" lIns="0" tIns="0" rIns="0" bIns="0">
            <a:spAutoFit/>
          </a:bodyPr>
          <a:lstStyle/>
          <a:p>
            <a:pPr>
              <a:defRPr sz="3800" b="1">
                <a:solidFill>
                  <a:srgbClr val="FFFFFF"/>
                </a:solidFill>
                <a:latin typeface="Segoe UI"/>
              </a:defRPr>
            </a:pPr>
            <a:r>
              <a:t>MediVault Local</a:t>
            </a:r>
          </a:p>
          <a:p>
            <a:pPr>
              <a:defRPr sz="1500" b="1">
                <a:solidFill>
                  <a:srgbClr val="06B6D4"/>
                </a:solidFill>
                <a:latin typeface="Segoe UI"/>
              </a:defRPr>
            </a:pPr>
            <a:r>
              <a:t>"The Offline AI Co-Pilot That Stops Fatal Prescription Errors"</a:t>
            </a:r>
          </a:p>
        </p:txBody>
      </p:sp>
      <p:sp>
        <p:nvSpPr>
          <p:cNvPr id="5" name="Rounded Rectangle 4"/>
          <p:cNvSpPr/>
          <p:nvPr/>
        </p:nvSpPr>
        <p:spPr>
          <a:xfrm>
            <a:off x="731520" y="2240280"/>
            <a:ext cx="6400800" cy="2011680"/>
          </a:xfrm>
          <a:prstGeom prst="roundRect">
            <a:avLst/>
          </a:prstGeom>
          <a:solidFill>
            <a:srgbClr val="131F37"/>
          </a:solidFill>
          <a:ln w="1524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spcAft>
                <a:spcPts val="400"/>
              </a:spcAft>
              <a:defRPr sz="1050" b="1">
                <a:solidFill>
                  <a:srgbClr val="F59E0B"/>
                </a:solidFill>
                <a:latin typeface="Segoe UI"/>
              </a:defRPr>
            </a:pPr>
            <a:r>
              <a:t>THE 10-SECOND PITCH (FOR ANYONE)</a:t>
            </a:r>
          </a:p>
          <a:p>
            <a:pPr>
              <a:lnSpc>
                <a:spcPct val="115000"/>
              </a:lnSpc>
              <a:defRPr sz="1100">
                <a:solidFill>
                  <a:srgbClr val="E2E8F0"/>
                </a:solidFill>
                <a:latin typeface="Segoe UI"/>
              </a:defRPr>
            </a:pPr>
            <a:r>
              <a:t>Hospitals are legally barred under HIPAA and DPDP regulations from sending confidential patient charts to cloud LLMs. At the same time, physician cognitive overload causes fatal drug interactions to slip through fatigued human shifts. MediVault Local runs 100% on the doctor's workstation with zero cloud egress, a deterministic pharmacology safety override, and local SHA-256 Merkle audit proofs.</a:t>
            </a:r>
          </a:p>
        </p:txBody>
      </p:sp>
      <p:sp>
        <p:nvSpPr>
          <p:cNvPr id="6" name="Rounded Rectangle 5"/>
          <p:cNvSpPr/>
          <p:nvPr/>
        </p:nvSpPr>
        <p:spPr>
          <a:xfrm>
            <a:off x="731520" y="2240280"/>
            <a:ext cx="6400800" cy="54864"/>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4389120"/>
            <a:ext cx="2011680" cy="1234440"/>
          </a:xfrm>
          <a:prstGeom prst="roundRect">
            <a:avLst/>
          </a:prstGeom>
          <a:solidFill>
            <a:srgbClr val="131F37"/>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defRPr sz="2000" b="1">
                <a:solidFill>
                  <a:srgbClr val="10B981"/>
                </a:solidFill>
                <a:latin typeface="Segoe UI"/>
              </a:defRPr>
            </a:pPr>
            <a:r>
              <a:t>0 BYTES</a:t>
            </a:r>
          </a:p>
          <a:p>
            <a:pPr algn="ctr">
              <a:defRPr sz="1000" b="1">
                <a:solidFill>
                  <a:srgbClr val="FFFFFF"/>
                </a:solidFill>
                <a:latin typeface="Segoe UI"/>
              </a:defRPr>
            </a:pPr>
            <a:r>
              <a:t>Cloud Egress</a:t>
            </a:r>
          </a:p>
          <a:p>
            <a:pPr algn="ctr">
              <a:defRPr sz="850">
                <a:solidFill>
                  <a:srgbClr val="94A3B8"/>
                </a:solidFill>
                <a:latin typeface="Segoe UI"/>
              </a:defRPr>
            </a:pPr>
            <a:r>
              <a:t>127.0.0.1 Loopback</a:t>
            </a:r>
          </a:p>
        </p:txBody>
      </p:sp>
      <p:sp>
        <p:nvSpPr>
          <p:cNvPr id="8" name="Rounded Rectangle 7"/>
          <p:cNvSpPr/>
          <p:nvPr/>
        </p:nvSpPr>
        <p:spPr>
          <a:xfrm>
            <a:off x="2926080" y="4389120"/>
            <a:ext cx="2011680" cy="1234440"/>
          </a:xfrm>
          <a:prstGeom prst="roundRect">
            <a:avLst/>
          </a:prstGeom>
          <a:solidFill>
            <a:srgbClr val="131F37"/>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defRPr sz="2000" b="1">
                <a:solidFill>
                  <a:srgbClr val="06B6D4"/>
                </a:solidFill>
                <a:latin typeface="Segoe UI"/>
              </a:defRPr>
            </a:pPr>
            <a:r>
              <a:t>0% ERROR</a:t>
            </a:r>
          </a:p>
          <a:p>
            <a:pPr algn="ctr">
              <a:defRPr sz="1000" b="1">
                <a:solidFill>
                  <a:srgbClr val="FFFFFF"/>
                </a:solidFill>
                <a:latin typeface="Segoe UI"/>
              </a:defRPr>
            </a:pPr>
            <a:r>
              <a:t>Hallucinations</a:t>
            </a:r>
          </a:p>
          <a:p>
            <a:pPr algn="ctr">
              <a:defRPr sz="850">
                <a:solidFill>
                  <a:srgbClr val="94A3B8"/>
                </a:solidFill>
                <a:latin typeface="Segoe UI"/>
              </a:defRPr>
            </a:pPr>
            <a:r>
              <a:t>Deterministic Rules</a:t>
            </a:r>
          </a:p>
        </p:txBody>
      </p:sp>
      <p:sp>
        <p:nvSpPr>
          <p:cNvPr id="9" name="Rounded Rectangle 8"/>
          <p:cNvSpPr/>
          <p:nvPr/>
        </p:nvSpPr>
        <p:spPr>
          <a:xfrm>
            <a:off x="5120640" y="4389120"/>
            <a:ext cx="2011680" cy="1234440"/>
          </a:xfrm>
          <a:prstGeom prst="roundRect">
            <a:avLst/>
          </a:prstGeom>
          <a:solidFill>
            <a:srgbClr val="131F37"/>
          </a:solidFill>
          <a:ln w="1524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defRPr sz="2000" b="1">
                <a:solidFill>
                  <a:srgbClr val="14B8A6"/>
                </a:solidFill>
                <a:latin typeface="Segoe UI"/>
              </a:defRPr>
            </a:pPr>
            <a:r>
              <a:t>117 / 117</a:t>
            </a:r>
          </a:p>
          <a:p>
            <a:pPr algn="ctr">
              <a:defRPr sz="1000" b="1">
                <a:solidFill>
                  <a:srgbClr val="FFFFFF"/>
                </a:solidFill>
                <a:latin typeface="Segoe UI"/>
              </a:defRPr>
            </a:pPr>
            <a:r>
              <a:t>Tests Passing</a:t>
            </a:r>
          </a:p>
          <a:p>
            <a:pPr algn="ctr">
              <a:defRPr sz="850">
                <a:solidFill>
                  <a:srgbClr val="94A3B8"/>
                </a:solidFill>
                <a:latin typeface="Segoe UI"/>
              </a:defRPr>
            </a:pPr>
            <a:r>
              <a:t>17 Clinical Modules</a:t>
            </a:r>
          </a:p>
        </p:txBody>
      </p:sp>
      <p:sp>
        <p:nvSpPr>
          <p:cNvPr id="10" name="TextBox 9"/>
          <p:cNvSpPr txBox="1"/>
          <p:nvPr/>
        </p:nvSpPr>
        <p:spPr>
          <a:xfrm>
            <a:off x="731520" y="5806440"/>
            <a:ext cx="6400800" cy="365760"/>
          </a:xfrm>
          <a:prstGeom prst="rect">
            <a:avLst/>
          </a:prstGeom>
          <a:noFill/>
        </p:spPr>
        <p:txBody>
          <a:bodyPr wrap="square" lIns="0" tIns="0" rIns="0" bIns="0">
            <a:spAutoFit/>
          </a:bodyPr>
          <a:lstStyle/>
          <a:p>
            <a:pPr>
              <a:defRPr sz="1000" b="1">
                <a:solidFill>
                  <a:srgbClr val="94A3B8"/>
                </a:solidFill>
                <a:latin typeface="Segoe UI"/>
              </a:defRPr>
            </a:pPr>
            <a:r>
              <a:t>Team Void_coders: Rishikgowda SM (Lead) | Rakshith DA | Kushal M | Sujan MB</a:t>
            </a:r>
          </a:p>
        </p:txBody>
      </p:sp>
      <p:pic>
        <p:nvPicPr>
          <p:cNvPr id="11" name="Picture 10" descr="sovereign_clinical_hero.jpg"/>
          <p:cNvPicPr>
            <a:picLocks noChangeAspect="1"/>
          </p:cNvPicPr>
          <p:nvPr/>
        </p:nvPicPr>
        <p:blipFill>
          <a:blip r:embed="rId2"/>
          <a:stretch>
            <a:fillRect/>
          </a:stretch>
        </p:blipFill>
        <p:spPr>
          <a:xfrm>
            <a:off x="7406640" y="640080"/>
            <a:ext cx="4053535" cy="2468880"/>
          </a:xfrm>
          <a:prstGeom prst="rect">
            <a:avLst/>
          </a:prstGeom>
        </p:spPr>
      </p:pic>
      <p:sp>
        <p:nvSpPr>
          <p:cNvPr id="12" name="Rounded Rectangle 11"/>
          <p:cNvSpPr/>
          <p:nvPr/>
        </p:nvSpPr>
        <p:spPr>
          <a:xfrm>
            <a:off x="7406640" y="3291840"/>
            <a:ext cx="4053535" cy="2834640"/>
          </a:xfrm>
          <a:prstGeom prst="roundRect">
            <a:avLst/>
          </a:prstGeom>
          <a:solidFill>
            <a:srgbClr val="131F37"/>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spcAft>
                <a:spcPts val="600"/>
              </a:spcAft>
              <a:defRPr sz="1100" b="1">
                <a:solidFill>
                  <a:srgbClr val="10B981"/>
                </a:solidFill>
                <a:latin typeface="Segoe UI"/>
              </a:defRPr>
            </a:pPr>
            <a:r>
              <a:t>SOVEREIGN CLINICAL TRUST PILLARS</a:t>
            </a:r>
          </a:p>
          <a:p>
            <a:pPr>
              <a:spcAft>
                <a:spcPts val="400"/>
              </a:spcAft>
              <a:defRPr sz="1000" b="1">
                <a:solidFill>
                  <a:srgbClr val="FFFFFF"/>
                </a:solidFill>
                <a:latin typeface="Segoe UI"/>
              </a:defRPr>
            </a:pPr>
            <a:r>
              <a:t>* Zero Cloud Transmission: </a:t>
            </a:r>
            <a:r>
              <a:rPr sz="950" b="0">
                <a:solidFill>
                  <a:srgbClr val="94A3B8"/>
                </a:solidFill>
                <a:latin typeface="Segoe UI"/>
              </a:rPr>
              <a:t>Runs strictly bound to 127.0.0.1. Network assertion tests verify zero cloud egress.</a:t>
            </a:r>
          </a:p>
          <a:p>
            <a:pPr>
              <a:spcAft>
                <a:spcPts val="400"/>
              </a:spcAft>
              <a:defRPr sz="1000" b="1">
                <a:solidFill>
                  <a:srgbClr val="FFFFFF"/>
                </a:solidFill>
                <a:latin typeface="Segoe UI"/>
              </a:defRPr>
            </a:pPr>
            <a:r>
              <a:t>* Deterministic Safety Core: </a:t>
            </a:r>
            <a:r>
              <a:rPr sz="950" b="0">
                <a:solidFill>
                  <a:srgbClr val="94A3B8"/>
                </a:solidFill>
                <a:latin typeface="Segoe UI"/>
              </a:rPr>
              <a:t>Pharmacology matrices decide safety verdicts. Local SLM translates without hallucinating.</a:t>
            </a:r>
          </a:p>
          <a:p>
            <a:pPr>
              <a:spcAft>
                <a:spcPts val="400"/>
              </a:spcAft>
              <a:defRPr sz="1000" b="1">
                <a:solidFill>
                  <a:srgbClr val="FFFFFF"/>
                </a:solidFill>
                <a:latin typeface="Segoe UI"/>
              </a:defRPr>
            </a:pPr>
            <a:r>
              <a:t>* 40ms Evaluation Latency: </a:t>
            </a:r>
            <a:r>
              <a:rPr sz="950" b="0">
                <a:solidFill>
                  <a:srgbClr val="94A3B8"/>
                </a:solidFill>
                <a:latin typeface="Segoe UI"/>
              </a:rPr>
              <a:t>Evaluates multi-drug bundles in under 40 milliseconds on a standard clinic laptop.</a:t>
            </a:r>
          </a:p>
          <a:p>
            <a:pPr>
              <a:spcAft>
                <a:spcPts val="400"/>
              </a:spcAft>
              <a:defRPr sz="1000" b="1">
                <a:solidFill>
                  <a:srgbClr val="FFFFFF"/>
                </a:solidFill>
                <a:latin typeface="Segoe UI"/>
              </a:defRPr>
            </a:pPr>
            <a:r>
              <a:t>* Tamper-Proof Merkle Audit: </a:t>
            </a:r>
            <a:r>
              <a:rPr sz="950" b="0">
                <a:solidFill>
                  <a:srgbClr val="94A3B8"/>
                </a:solidFill>
                <a:latin typeface="Segoe UI"/>
              </a:rPr>
              <a:t>Seals every clinical decision into a local SHA-256 hash chain for HIPAA Section 164.312(b).</a:t>
            </a:r>
          </a:p>
        </p:txBody>
      </p:sp>
      <p:sp>
        <p:nvSpPr>
          <p:cNvPr id="13" name="Rounded Rectangle 12"/>
          <p:cNvSpPr/>
          <p:nvPr/>
        </p:nvSpPr>
        <p:spPr>
          <a:xfrm>
            <a:off x="7406640" y="3291840"/>
            <a:ext cx="4053535" cy="5486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840480" cy="256032"/>
          </a:xfrm>
          <a:prstGeom prst="roundRect">
            <a:avLst/>
          </a:prstGeom>
          <a:solidFill>
            <a:srgbClr val="0F1C30"/>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lIns="109728" tIns="0" bIns="0" rIns="0"/>
          <a:lstStyle/>
          <a:p>
            <a:pPr algn="ctr">
              <a:defRPr sz="950" b="1">
                <a:solidFill>
                  <a:srgbClr val="EF4444"/>
                </a:solidFill>
                <a:latin typeface="Segoe UI"/>
              </a:defRPr>
            </a:pPr>
            <a:r>
              <a:t>PROBLEM STATEMENT &amp; REAL-WORLD IMPACT</a:t>
            </a:r>
          </a:p>
        </p:txBody>
      </p:sp>
      <p:sp>
        <p:nvSpPr>
          <p:cNvPr id="4" name="TextBox 3"/>
          <p:cNvSpPr txBox="1"/>
          <p:nvPr/>
        </p:nvSpPr>
        <p:spPr>
          <a:xfrm>
            <a:off x="731520" y="658368"/>
            <a:ext cx="10698480" cy="502920"/>
          </a:xfrm>
          <a:prstGeom prst="rect">
            <a:avLst/>
          </a:prstGeom>
          <a:noFill/>
        </p:spPr>
        <p:txBody>
          <a:bodyPr wrap="square" lIns="0" tIns="0" rIns="0" bIns="0">
            <a:spAutoFit/>
          </a:bodyPr>
          <a:lstStyle/>
          <a:p>
            <a:pPr>
              <a:defRPr sz="2200" b="1">
                <a:solidFill>
                  <a:srgbClr val="FFFFFF"/>
                </a:solidFill>
                <a:latin typeface="Segoe UI"/>
              </a:defRPr>
            </a:pPr>
            <a:r>
              <a:t>The Hospital Trilemma: Legal Bans, Tired Doctors &amp; Fatal Drug Mix-ups</a:t>
            </a:r>
          </a:p>
        </p:txBody>
      </p:sp>
      <p:sp>
        <p:nvSpPr>
          <p:cNvPr id="5" name="TextBox 4"/>
          <p:cNvSpPr txBox="1"/>
          <p:nvPr/>
        </p:nvSpPr>
        <p:spPr>
          <a:xfrm>
            <a:off x="731520" y="1170432"/>
            <a:ext cx="10698480" cy="292608"/>
          </a:xfrm>
          <a:prstGeom prst="rect">
            <a:avLst/>
          </a:prstGeom>
          <a:noFill/>
        </p:spPr>
        <p:txBody>
          <a:bodyPr wrap="square" lIns="0" tIns="0" rIns="0" bIns="0">
            <a:spAutoFit/>
          </a:bodyPr>
          <a:lstStyle/>
          <a:p>
            <a:pPr>
              <a:defRPr sz="1100">
                <a:solidFill>
                  <a:srgbClr val="06B6D4"/>
                </a:solidFill>
                <a:latin typeface="Segoe UI"/>
              </a:defRPr>
            </a:pPr>
            <a:r>
              <a:t>Why cloud LLMs are legally prohibited and medically unreliable in acute care</a:t>
            </a:r>
          </a:p>
        </p:txBody>
      </p:sp>
      <p:sp>
        <p:nvSpPr>
          <p:cNvPr id="6" name="Rounded Rectangle 5"/>
          <p:cNvSpPr/>
          <p:nvPr/>
        </p:nvSpPr>
        <p:spPr>
          <a:xfrm>
            <a:off x="731520" y="1554480"/>
            <a:ext cx="10728655" cy="1005840"/>
          </a:xfrm>
          <a:prstGeom prst="roundRect">
            <a:avLst/>
          </a:prstGeom>
          <a:solidFill>
            <a:srgbClr val="1A1410"/>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spcAft>
                <a:spcPts val="200"/>
              </a:spcAft>
              <a:defRPr sz="1050" b="1">
                <a:solidFill>
                  <a:srgbClr val="F59E0B"/>
                </a:solidFill>
                <a:latin typeface="Segoe UI"/>
              </a:defRPr>
            </a:pPr>
            <a:r>
              <a:t>A REAL-WORLD HUMAN STORY: THE DEADLY 'TRIPLE WHAMMY'</a:t>
            </a:r>
          </a:p>
          <a:p>
            <a:pPr>
              <a:lnSpc>
                <a:spcPct val="115000"/>
              </a:lnSpc>
              <a:defRPr sz="1050">
                <a:solidFill>
                  <a:srgbClr val="E2E8F0"/>
                </a:solidFill>
                <a:latin typeface="Segoe UI"/>
              </a:defRPr>
            </a:pPr>
            <a:r>
              <a:t>An 80-year-old grandfather taking blood pressure pills (ACE inhibitor) and water pills (Diuretic) visits the clinic with severe back pain. An exhausted doctor in hour 14 prescribes standard Advil (Ibuprofen). These 3 drugs together choke off renal blood flow. Within 48 hours, his kidneys shut down completely (eGFR plunges from 42 to &lt; 15 mL/min), triggering emergency ICU dialysis.</a:t>
            </a:r>
          </a:p>
        </p:txBody>
      </p:sp>
      <p:sp>
        <p:nvSpPr>
          <p:cNvPr id="7" name="Rounded Rectangle 6"/>
          <p:cNvSpPr/>
          <p:nvPr/>
        </p:nvSpPr>
        <p:spPr>
          <a:xfrm>
            <a:off x="731520" y="1554480"/>
            <a:ext cx="10728655" cy="54864"/>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2697480"/>
            <a:ext cx="3328416" cy="3657600"/>
          </a:xfrm>
          <a:prstGeom prst="roundRect">
            <a:avLst/>
          </a:prstGeom>
          <a:solidFill>
            <a:srgbClr val="131F37"/>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spcAft>
                <a:spcPts val="200"/>
              </a:spcAft>
              <a:defRPr sz="1000" b="1">
                <a:solidFill>
                  <a:srgbClr val="EF4444"/>
                </a:solidFill>
                <a:latin typeface="Segoe UI"/>
              </a:defRPr>
            </a:pPr>
            <a:r>
              <a:t>01 / THE LAW</a:t>
            </a:r>
          </a:p>
          <a:p>
            <a:pPr>
              <a:spcAft>
                <a:spcPts val="600"/>
              </a:spcAft>
              <a:defRPr sz="1300" b="1">
                <a:solidFill>
                  <a:srgbClr val="FFFFFF"/>
                </a:solidFill>
                <a:latin typeface="Segoe UI"/>
              </a:defRPr>
            </a:pPr>
            <a:r>
              <a:t>Cloud AI is Illegal in Wards</a:t>
            </a:r>
          </a:p>
          <a:p>
            <a:pPr>
              <a:lnSpc>
                <a:spcPct val="115000"/>
              </a:lnSpc>
              <a:defRPr sz="950">
                <a:solidFill>
                  <a:srgbClr val="94A3B8"/>
                </a:solidFill>
                <a:latin typeface="Segoe UI"/>
              </a:defRPr>
            </a:pPr>
            <a:r>
              <a:t>Hospitals cannot transmit patient charts to OpenAI or AWS without severe regulatory violations under HIPAA and the India DPDP Act 2023. Penalties reach up to Rs 250 Crore / $50,000 per breach.</a:t>
            </a:r>
            <a:br/>
            <a:br/>
            <a:r>
              <a:t>Technical Reality: Violates HIPAA Safe Harbor Section 164.514. Doctors are forced into manual chart reviews with zero modern AI assistance.</a:t>
            </a:r>
          </a:p>
        </p:txBody>
      </p:sp>
      <p:sp>
        <p:nvSpPr>
          <p:cNvPr id="9" name="Rounded Rectangle 8"/>
          <p:cNvSpPr/>
          <p:nvPr/>
        </p:nvSpPr>
        <p:spPr>
          <a:xfrm>
            <a:off x="731520" y="2697480"/>
            <a:ext cx="3328416" cy="54864"/>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425696" y="2697480"/>
            <a:ext cx="3328416" cy="3657600"/>
          </a:xfrm>
          <a:prstGeom prst="roundRect">
            <a:avLst/>
          </a:prstGeom>
          <a:solidFill>
            <a:srgbClr val="131F37"/>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spcAft>
                <a:spcPts val="200"/>
              </a:spcAft>
              <a:defRPr sz="1000" b="1">
                <a:solidFill>
                  <a:srgbClr val="F59E0B"/>
                </a:solidFill>
                <a:latin typeface="Segoe UI"/>
              </a:defRPr>
            </a:pPr>
            <a:r>
              <a:t>02 / HUMAN LIMITS</a:t>
            </a:r>
          </a:p>
          <a:p>
            <a:pPr>
              <a:spcAft>
                <a:spcPts val="600"/>
              </a:spcAft>
              <a:defRPr sz="1300" b="1">
                <a:solidFill>
                  <a:srgbClr val="FFFFFF"/>
                </a:solidFill>
                <a:latin typeface="Segoe UI"/>
              </a:defRPr>
            </a:pPr>
            <a:r>
              <a:t>43% of Polypharmacy at Risk</a:t>
            </a:r>
          </a:p>
          <a:p>
            <a:pPr>
              <a:lnSpc>
                <a:spcPct val="115000"/>
              </a:lnSpc>
              <a:defRPr sz="950">
                <a:solidFill>
                  <a:srgbClr val="94A3B8"/>
                </a:solidFill>
                <a:latin typeface="Segoe UI"/>
              </a:defRPr>
            </a:pPr>
            <a:r>
              <a:t>Adverse Drug Events (ADEs) are a top-5 cause of death globally (&gt;100,000 deaths/yr). When multi-morbid patients take 5+ prescriptions across specialists, human memory cannot calculate all dangerous cross-reactions.</a:t>
            </a:r>
            <a:br/>
            <a:br/>
            <a:r>
              <a:t>Technical Reality: Polypharmacy cascades: QTc prolongation, Serotonin syndrome, AGS Beers 2023 geriatric criteria.</a:t>
            </a:r>
          </a:p>
        </p:txBody>
      </p:sp>
      <p:sp>
        <p:nvSpPr>
          <p:cNvPr id="11" name="Rounded Rectangle 10"/>
          <p:cNvSpPr/>
          <p:nvPr/>
        </p:nvSpPr>
        <p:spPr>
          <a:xfrm>
            <a:off x="4425696" y="2697480"/>
            <a:ext cx="3328416" cy="54864"/>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19872" y="2697480"/>
            <a:ext cx="3328416" cy="3657600"/>
          </a:xfrm>
          <a:prstGeom prst="roundRect">
            <a:avLst/>
          </a:prstGeom>
          <a:solidFill>
            <a:srgbClr val="131F37"/>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spcAft>
                <a:spcPts val="200"/>
              </a:spcAft>
              <a:defRPr sz="1000" b="1">
                <a:solidFill>
                  <a:srgbClr val="06B6D4"/>
                </a:solidFill>
                <a:latin typeface="Segoe UI"/>
              </a:defRPr>
            </a:pPr>
            <a:r>
              <a:t>03 / AI DRIFT</a:t>
            </a:r>
          </a:p>
          <a:p>
            <a:pPr>
              <a:spcAft>
                <a:spcPts val="600"/>
              </a:spcAft>
              <a:defRPr sz="1300" b="1">
                <a:solidFill>
                  <a:srgbClr val="FFFFFF"/>
                </a:solidFill>
                <a:latin typeface="Segoe UI"/>
              </a:defRPr>
            </a:pPr>
            <a:r>
              <a:t>Pure LLMs Make Deadly Guesses</a:t>
            </a:r>
          </a:p>
          <a:p>
            <a:pPr>
              <a:lnSpc>
                <a:spcPct val="115000"/>
              </a:lnSpc>
              <a:defRPr sz="950">
                <a:solidFill>
                  <a:srgbClr val="94A3B8"/>
                </a:solidFill>
                <a:latin typeface="Segoe UI"/>
              </a:defRPr>
            </a:pPr>
            <a:r>
              <a:t>Generic cloud LLMs hallucinate dosages, overlook renal cutoffs, and produce probabilistic clearance advice. In a life-critical setting, probabilistic text generation cannot be trusted with human lives.</a:t>
            </a:r>
            <a:br/>
            <a:br/>
            <a:r>
              <a:t>Technical Reality: Stochastic token sampling cannot guarantee compliance with Cockcroft-Gault renal thresholds.</a:t>
            </a:r>
          </a:p>
        </p:txBody>
      </p:sp>
      <p:sp>
        <p:nvSpPr>
          <p:cNvPr id="13" name="Rounded Rectangle 12"/>
          <p:cNvSpPr/>
          <p:nvPr/>
        </p:nvSpPr>
        <p:spPr>
          <a:xfrm>
            <a:off x="8119872" y="2697480"/>
            <a:ext cx="3328416" cy="54864"/>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840480" cy="256032"/>
          </a:xfrm>
          <a:prstGeom prst="roundRect">
            <a:avLst/>
          </a:prstGeom>
          <a:solidFill>
            <a:srgbClr val="0F1C30"/>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lIns="109728" tIns="0" bIns="0" rIns="0"/>
          <a:lstStyle/>
          <a:p>
            <a:pPr algn="ctr">
              <a:defRPr sz="950" b="1">
                <a:solidFill>
                  <a:srgbClr val="14B8A6"/>
                </a:solidFill>
                <a:latin typeface="Segoe UI"/>
              </a:defRPr>
            </a:pPr>
            <a:r>
              <a:t>ARCHITECTURE &amp; TECHNICAL EXECUTION</a:t>
            </a:r>
          </a:p>
        </p:txBody>
      </p:sp>
      <p:sp>
        <p:nvSpPr>
          <p:cNvPr id="4" name="TextBox 3"/>
          <p:cNvSpPr txBox="1"/>
          <p:nvPr/>
        </p:nvSpPr>
        <p:spPr>
          <a:xfrm>
            <a:off x="731520" y="658368"/>
            <a:ext cx="10698480" cy="502920"/>
          </a:xfrm>
          <a:prstGeom prst="rect">
            <a:avLst/>
          </a:prstGeom>
          <a:noFill/>
        </p:spPr>
        <p:txBody>
          <a:bodyPr wrap="square" lIns="0" tIns="0" rIns="0" bIns="0">
            <a:spAutoFit/>
          </a:bodyPr>
          <a:lstStyle/>
          <a:p>
            <a:pPr>
              <a:defRPr sz="2200" b="1">
                <a:solidFill>
                  <a:srgbClr val="FFFFFF"/>
                </a:solidFill>
                <a:latin typeface="Segoe UI"/>
              </a:defRPr>
            </a:pPr>
            <a:r>
              <a:t>The 6-Stage Sovereign Pipeline: Airport Security for Prescriptions</a:t>
            </a:r>
          </a:p>
        </p:txBody>
      </p:sp>
      <p:sp>
        <p:nvSpPr>
          <p:cNvPr id="5" name="TextBox 4"/>
          <p:cNvSpPr txBox="1"/>
          <p:nvPr/>
        </p:nvSpPr>
        <p:spPr>
          <a:xfrm>
            <a:off x="731520" y="1170432"/>
            <a:ext cx="10698480" cy="292608"/>
          </a:xfrm>
          <a:prstGeom prst="rect">
            <a:avLst/>
          </a:prstGeom>
          <a:noFill/>
        </p:spPr>
        <p:txBody>
          <a:bodyPr wrap="square" lIns="0" tIns="0" rIns="0" bIns="0">
            <a:spAutoFit/>
          </a:bodyPr>
          <a:lstStyle/>
          <a:p>
            <a:pPr>
              <a:defRPr sz="1100">
                <a:solidFill>
                  <a:srgbClr val="06B6D4"/>
                </a:solidFill>
                <a:latin typeface="Segoe UI"/>
              </a:defRPr>
            </a:pPr>
            <a:r>
              <a:t>Strict loopback (127.0.0.1) execution with zero external network dependencies</a:t>
            </a:r>
          </a:p>
        </p:txBody>
      </p:sp>
      <p:sp>
        <p:nvSpPr>
          <p:cNvPr id="6" name="Rounded Rectangle 5"/>
          <p:cNvSpPr/>
          <p:nvPr/>
        </p:nvSpPr>
        <p:spPr>
          <a:xfrm>
            <a:off x="731520" y="1554480"/>
            <a:ext cx="10728655" cy="594360"/>
          </a:xfrm>
          <a:prstGeom prst="roundRect">
            <a:avLst/>
          </a:prstGeom>
          <a:solidFill>
            <a:srgbClr val="0C192A"/>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defRPr sz="1000" b="1">
                <a:solidFill>
                  <a:srgbClr val="06B6D4"/>
                </a:solidFill>
                <a:latin typeface="Segoe UI"/>
              </a:defRPr>
            </a:pPr>
            <a:r>
              <a:t>THE SIMPLE ANALOGY: Think of MediVault like an airport security checkpoint for prescriptions. Every order must pass 6 local safety checkpoints before taking off-100% inside the clinic room.</a:t>
            </a:r>
          </a:p>
        </p:txBody>
      </p:sp>
      <p:sp>
        <p:nvSpPr>
          <p:cNvPr id="7" name="Rounded Rectangle 6"/>
          <p:cNvSpPr/>
          <p:nvPr/>
        </p:nvSpPr>
        <p:spPr>
          <a:xfrm>
            <a:off x="731520" y="1554480"/>
            <a:ext cx="10728655" cy="54864"/>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2286000"/>
            <a:ext cx="1645920" cy="3291840"/>
          </a:xfrm>
          <a:prstGeom prst="roundRect">
            <a:avLst/>
          </a:prstGeom>
          <a:solidFill>
            <a:srgbClr val="131F37"/>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spcAft>
                <a:spcPts val="200"/>
              </a:spcAft>
              <a:defRPr sz="900" b="1">
                <a:solidFill>
                  <a:srgbClr val="06B6D4"/>
                </a:solidFill>
                <a:latin typeface="Segoe UI"/>
              </a:defRPr>
            </a:pPr>
            <a:r>
              <a:t>STAGE 01</a:t>
            </a:r>
          </a:p>
          <a:p>
            <a:pPr>
              <a:spcAft>
                <a:spcPts val="400"/>
              </a:spcAft>
              <a:defRPr sz="1100" b="1">
                <a:solidFill>
                  <a:srgbClr val="FFFFFF"/>
                </a:solidFill>
                <a:latin typeface="Segoe UI"/>
              </a:defRPr>
            </a:pPr>
            <a:r>
              <a:t>Read Document</a:t>
            </a:r>
          </a:p>
          <a:p>
            <a:pPr>
              <a:lnSpc>
                <a:spcPct val="115000"/>
              </a:lnSpc>
              <a:spcAft>
                <a:spcPts val="400"/>
              </a:spcAft>
              <a:defRPr sz="850">
                <a:solidFill>
                  <a:srgbClr val="94A3B8"/>
                </a:solidFill>
                <a:latin typeface="Segoe UI"/>
              </a:defRPr>
            </a:pPr>
            <a:r>
              <a:t>Scans handwriting or PDF notes on laptop.</a:t>
            </a:r>
            <a:br/>
            <a:br/>
            <a:r>
              <a:t>Tech: PyMuPDF + local RapidOCR (ONNX). Zero cloud vision APIs.</a:t>
            </a:r>
          </a:p>
          <a:p>
            <a:pPr>
              <a:defRPr sz="850" b="1">
                <a:solidFill>
                  <a:srgbClr val="10B981"/>
                </a:solidFill>
                <a:latin typeface="Segoe UI"/>
              </a:defRPr>
            </a:pPr>
            <a:r>
              <a:t>Owner: Person B</a:t>
            </a:r>
          </a:p>
        </p:txBody>
      </p:sp>
      <p:sp>
        <p:nvSpPr>
          <p:cNvPr id="9" name="Rounded Rectangle 8"/>
          <p:cNvSpPr/>
          <p:nvPr/>
        </p:nvSpPr>
        <p:spPr>
          <a:xfrm>
            <a:off x="2547518" y="2286000"/>
            <a:ext cx="1645920" cy="3291840"/>
          </a:xfrm>
          <a:prstGeom prst="roundRect">
            <a:avLst/>
          </a:prstGeom>
          <a:solidFill>
            <a:srgbClr val="131F37"/>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spcAft>
                <a:spcPts val="200"/>
              </a:spcAft>
              <a:defRPr sz="900" b="1">
                <a:solidFill>
                  <a:srgbClr val="06B6D4"/>
                </a:solidFill>
                <a:latin typeface="Segoe UI"/>
              </a:defRPr>
            </a:pPr>
            <a:r>
              <a:t>STAGE 02</a:t>
            </a:r>
          </a:p>
          <a:p>
            <a:pPr>
              <a:spcAft>
                <a:spcPts val="400"/>
              </a:spcAft>
              <a:defRPr sz="1100" b="1">
                <a:solidFill>
                  <a:srgbClr val="FFFFFF"/>
                </a:solidFill>
                <a:latin typeface="Segoe UI"/>
              </a:defRPr>
            </a:pPr>
            <a:r>
              <a:t>Scrub Identity</a:t>
            </a:r>
          </a:p>
          <a:p>
            <a:pPr>
              <a:lnSpc>
                <a:spcPct val="115000"/>
              </a:lnSpc>
              <a:spcAft>
                <a:spcPts val="400"/>
              </a:spcAft>
              <a:defRPr sz="850">
                <a:solidFill>
                  <a:srgbClr val="94A3B8"/>
                </a:solidFill>
                <a:latin typeface="Segoe UI"/>
              </a:defRPr>
            </a:pPr>
            <a:r>
              <a:t>Erases patient name &amp; phone into anonymous codes.</a:t>
            </a:r>
            <a:br/>
            <a:br/>
            <a:r>
              <a:t>Tech: 18 HIPAA Safe Harbor regex strippers -&gt; ANON_ token.</a:t>
            </a:r>
          </a:p>
          <a:p>
            <a:pPr>
              <a:defRPr sz="850" b="1">
                <a:solidFill>
                  <a:srgbClr val="10B981"/>
                </a:solidFill>
                <a:latin typeface="Segoe UI"/>
              </a:defRPr>
            </a:pPr>
            <a:r>
              <a:t>Owner: Person B</a:t>
            </a:r>
          </a:p>
        </p:txBody>
      </p:sp>
      <p:sp>
        <p:nvSpPr>
          <p:cNvPr id="10" name="Rounded Rectangle 9"/>
          <p:cNvSpPr/>
          <p:nvPr/>
        </p:nvSpPr>
        <p:spPr>
          <a:xfrm>
            <a:off x="4363516" y="2286000"/>
            <a:ext cx="1645920" cy="3291840"/>
          </a:xfrm>
          <a:prstGeom prst="roundRect">
            <a:avLst/>
          </a:prstGeom>
          <a:solidFill>
            <a:srgbClr val="131F37"/>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spcAft>
                <a:spcPts val="200"/>
              </a:spcAft>
              <a:defRPr sz="900" b="1">
                <a:solidFill>
                  <a:srgbClr val="06B6D4"/>
                </a:solidFill>
                <a:latin typeface="Segoe UI"/>
              </a:defRPr>
            </a:pPr>
            <a:r>
              <a:t>STAGE 03</a:t>
            </a:r>
          </a:p>
          <a:p>
            <a:pPr>
              <a:spcAft>
                <a:spcPts val="400"/>
              </a:spcAft>
              <a:defRPr sz="1100" b="1">
                <a:solidFill>
                  <a:srgbClr val="FFFFFF"/>
                </a:solidFill>
                <a:latin typeface="Segoe UI"/>
              </a:defRPr>
            </a:pPr>
            <a:r>
              <a:t>Decode Drug</a:t>
            </a:r>
          </a:p>
          <a:p>
            <a:pPr>
              <a:lnSpc>
                <a:spcPct val="115000"/>
              </a:lnSpc>
              <a:spcAft>
                <a:spcPts val="400"/>
              </a:spcAft>
              <a:defRPr sz="850">
                <a:solidFill>
                  <a:srgbClr val="94A3B8"/>
                </a:solidFill>
                <a:latin typeface="Segoe UI"/>
              </a:defRPr>
            </a:pPr>
            <a:r>
              <a:t>Recognizes brand names ('Advil' = 'Ibuprofen').</a:t>
            </a:r>
            <a:br/>
            <a:br/>
            <a:r>
              <a:t>Tech: RxNorm brand-to-generic dictionary &amp; allergy parser.</a:t>
            </a:r>
          </a:p>
          <a:p>
            <a:pPr>
              <a:defRPr sz="850" b="1">
                <a:solidFill>
                  <a:srgbClr val="10B981"/>
                </a:solidFill>
                <a:latin typeface="Segoe UI"/>
              </a:defRPr>
            </a:pPr>
            <a:r>
              <a:t>Owner: Person C</a:t>
            </a:r>
          </a:p>
        </p:txBody>
      </p:sp>
      <p:sp>
        <p:nvSpPr>
          <p:cNvPr id="11" name="Rounded Rectangle 10"/>
          <p:cNvSpPr/>
          <p:nvPr/>
        </p:nvSpPr>
        <p:spPr>
          <a:xfrm>
            <a:off x="6179514" y="2286000"/>
            <a:ext cx="1645920" cy="3291840"/>
          </a:xfrm>
          <a:prstGeom prst="roundRect">
            <a:avLst/>
          </a:prstGeom>
          <a:solidFill>
            <a:srgbClr val="131F37"/>
          </a:solidFill>
          <a:ln w="1524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spcAft>
                <a:spcPts val="200"/>
              </a:spcAft>
              <a:defRPr sz="900" b="1">
                <a:solidFill>
                  <a:srgbClr val="06B6D4"/>
                </a:solidFill>
                <a:latin typeface="Segoe UI"/>
              </a:defRPr>
            </a:pPr>
            <a:r>
              <a:t>STAGE 04</a:t>
            </a:r>
          </a:p>
          <a:p>
            <a:pPr>
              <a:spcAft>
                <a:spcPts val="400"/>
              </a:spcAft>
              <a:defRPr sz="1100" b="1">
                <a:solidFill>
                  <a:srgbClr val="FFFFFF"/>
                </a:solidFill>
                <a:latin typeface="Segoe UI"/>
              </a:defRPr>
            </a:pPr>
            <a:r>
              <a:t>Hard Rules</a:t>
            </a:r>
          </a:p>
          <a:p>
            <a:pPr>
              <a:lnSpc>
                <a:spcPct val="115000"/>
              </a:lnSpc>
              <a:spcAft>
                <a:spcPts val="400"/>
              </a:spcAft>
              <a:defRPr sz="850">
                <a:solidFill>
                  <a:srgbClr val="94A3B8"/>
                </a:solidFill>
                <a:latin typeface="Segoe UI"/>
              </a:defRPr>
            </a:pPr>
            <a:r>
              <a:t>Checks if drug harms kidney, liver, or heart.</a:t>
            </a:r>
            <a:br/>
            <a:br/>
            <a:r>
              <a:t>Tech: SQLite rule matrix: Cockcroft-Gault, Beers 2023, lab cutoffs.</a:t>
            </a:r>
          </a:p>
          <a:p>
            <a:pPr>
              <a:defRPr sz="850" b="1">
                <a:solidFill>
                  <a:srgbClr val="10B981"/>
                </a:solidFill>
                <a:latin typeface="Segoe UI"/>
              </a:defRPr>
            </a:pPr>
            <a:r>
              <a:t>Owner: Person C</a:t>
            </a:r>
          </a:p>
        </p:txBody>
      </p:sp>
      <p:sp>
        <p:nvSpPr>
          <p:cNvPr id="12" name="Rounded Rectangle 11"/>
          <p:cNvSpPr/>
          <p:nvPr/>
        </p:nvSpPr>
        <p:spPr>
          <a:xfrm>
            <a:off x="6179514" y="2286000"/>
            <a:ext cx="1645920" cy="54864"/>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995512" y="2286000"/>
            <a:ext cx="1645920" cy="3291840"/>
          </a:xfrm>
          <a:prstGeom prst="roundRect">
            <a:avLst/>
          </a:prstGeom>
          <a:solidFill>
            <a:srgbClr val="131F37"/>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spcAft>
                <a:spcPts val="200"/>
              </a:spcAft>
              <a:defRPr sz="900" b="1">
                <a:solidFill>
                  <a:srgbClr val="06B6D4"/>
                </a:solidFill>
                <a:latin typeface="Segoe UI"/>
              </a:defRPr>
            </a:pPr>
            <a:r>
              <a:t>STAGE 05</a:t>
            </a:r>
          </a:p>
          <a:p>
            <a:pPr>
              <a:spcAft>
                <a:spcPts val="400"/>
              </a:spcAft>
              <a:defRPr sz="1100" b="1">
                <a:solidFill>
                  <a:srgbClr val="FFFFFF"/>
                </a:solidFill>
                <a:latin typeface="Segoe UI"/>
              </a:defRPr>
            </a:pPr>
            <a:r>
              <a:t>AI Explains</a:t>
            </a:r>
          </a:p>
          <a:p>
            <a:pPr>
              <a:lnSpc>
                <a:spcPct val="115000"/>
              </a:lnSpc>
              <a:spcAft>
                <a:spcPts val="400"/>
              </a:spcAft>
              <a:defRPr sz="850">
                <a:solidFill>
                  <a:srgbClr val="94A3B8"/>
                </a:solidFill>
                <a:latin typeface="Segoe UI"/>
              </a:defRPr>
            </a:pPr>
            <a:r>
              <a:t>AI explains biological danger in plain English.</a:t>
            </a:r>
            <a:br/>
            <a:br/>
            <a:r>
              <a:t>Tech: Rowland &amp; Tozer PK model + Ollama llama3.2:3b SLM.</a:t>
            </a:r>
          </a:p>
          <a:p>
            <a:pPr>
              <a:defRPr sz="850" b="1">
                <a:solidFill>
                  <a:srgbClr val="10B981"/>
                </a:solidFill>
                <a:latin typeface="Segoe UI"/>
              </a:defRPr>
            </a:pPr>
            <a:r>
              <a:t>Owner: Person C</a:t>
            </a:r>
          </a:p>
        </p:txBody>
      </p:sp>
      <p:sp>
        <p:nvSpPr>
          <p:cNvPr id="14" name="Rounded Rectangle 13"/>
          <p:cNvSpPr/>
          <p:nvPr/>
        </p:nvSpPr>
        <p:spPr>
          <a:xfrm>
            <a:off x="9811510" y="2286000"/>
            <a:ext cx="1645920" cy="3291840"/>
          </a:xfrm>
          <a:prstGeom prst="roundRect">
            <a:avLst/>
          </a:prstGeom>
          <a:solidFill>
            <a:srgbClr val="131F37"/>
          </a:solidFill>
          <a:ln w="1524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spcAft>
                <a:spcPts val="200"/>
              </a:spcAft>
              <a:defRPr sz="900" b="1">
                <a:solidFill>
                  <a:srgbClr val="06B6D4"/>
                </a:solidFill>
                <a:latin typeface="Segoe UI"/>
              </a:defRPr>
            </a:pPr>
            <a:r>
              <a:t>STAGE 06</a:t>
            </a:r>
          </a:p>
          <a:p>
            <a:pPr>
              <a:spcAft>
                <a:spcPts val="400"/>
              </a:spcAft>
              <a:defRPr sz="1100" b="1">
                <a:solidFill>
                  <a:srgbClr val="FFFFFF"/>
                </a:solidFill>
                <a:latin typeface="Segoe UI"/>
              </a:defRPr>
            </a:pPr>
            <a:r>
              <a:t>Wax Seal</a:t>
            </a:r>
          </a:p>
          <a:p>
            <a:pPr>
              <a:lnSpc>
                <a:spcPct val="115000"/>
              </a:lnSpc>
              <a:spcAft>
                <a:spcPts val="400"/>
              </a:spcAft>
              <a:defRPr sz="850">
                <a:solidFill>
                  <a:srgbClr val="94A3B8"/>
                </a:solidFill>
                <a:latin typeface="Segoe UI"/>
              </a:defRPr>
            </a:pPr>
            <a:r>
              <a:t>Locks decision with proof of zero tampering.</a:t>
            </a:r>
            <a:br/>
            <a:br/>
            <a:r>
              <a:t>Tech: SHA-256 Merkle chain fulfilling HIPAA Section 164.312(b).</a:t>
            </a:r>
          </a:p>
          <a:p>
            <a:pPr>
              <a:defRPr sz="850" b="1">
                <a:solidFill>
                  <a:srgbClr val="10B981"/>
                </a:solidFill>
                <a:latin typeface="Segoe UI"/>
              </a:defRPr>
            </a:pPr>
            <a:r>
              <a:t>Owner: Person A</a:t>
            </a:r>
          </a:p>
        </p:txBody>
      </p:sp>
      <p:sp>
        <p:nvSpPr>
          <p:cNvPr id="15" name="Rounded Rectangle 14"/>
          <p:cNvSpPr/>
          <p:nvPr/>
        </p:nvSpPr>
        <p:spPr>
          <a:xfrm>
            <a:off x="9811510" y="2286000"/>
            <a:ext cx="1645920" cy="54864"/>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1520" y="5715000"/>
            <a:ext cx="10728655" cy="777240"/>
          </a:xfrm>
          <a:prstGeom prst="roundRect">
            <a:avLst/>
          </a:prstGeom>
          <a:solidFill>
            <a:srgbClr val="131F37"/>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defRPr sz="1000" b="1">
                <a:solidFill>
                  <a:srgbClr val="14B8A6"/>
                </a:solidFill>
                <a:latin typeface="Segoe UI"/>
              </a:defRPr>
            </a:pPr>
            <a:r>
              <a:t>CORE TECH: FastAPI | SQLite WAL Mode | RapidOCR ONNX | Ollama (llama3.2:3b) | Chart.js | HL7 FHIR R4 | Optical SVG QR</a:t>
            </a:r>
          </a:p>
          <a:p>
            <a:pPr>
              <a:defRPr sz="900">
                <a:solidFill>
                  <a:srgbClr val="E2E8F0"/>
                </a:solidFill>
                <a:latin typeface="Segoe UI"/>
              </a:defRPr>
            </a:pPr>
            <a:r>
              <a:t>Strict loopback (127.0.0.1) confirmed by automated tests | Concurrency tested with 0 locks across 12 simultaneous reviews.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840480" cy="256032"/>
          </a:xfrm>
          <a:prstGeom prst="roundRect">
            <a:avLst/>
          </a:prstGeom>
          <a:solidFill>
            <a:srgbClr val="0F1C30"/>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109728" tIns="0" bIns="0" rIns="0"/>
          <a:lstStyle/>
          <a:p>
            <a:pPr algn="ctr">
              <a:defRPr sz="950" b="1">
                <a:solidFill>
                  <a:srgbClr val="10B981"/>
                </a:solidFill>
                <a:latin typeface="Segoe UI"/>
              </a:defRPr>
            </a:pPr>
            <a:r>
              <a:t>CORE TECHNICAL INNOVATION</a:t>
            </a:r>
          </a:p>
        </p:txBody>
      </p:sp>
      <p:sp>
        <p:nvSpPr>
          <p:cNvPr id="4" name="TextBox 3"/>
          <p:cNvSpPr txBox="1"/>
          <p:nvPr/>
        </p:nvSpPr>
        <p:spPr>
          <a:xfrm>
            <a:off x="731520" y="658368"/>
            <a:ext cx="10698480" cy="502920"/>
          </a:xfrm>
          <a:prstGeom prst="rect">
            <a:avLst/>
          </a:prstGeom>
          <a:noFill/>
        </p:spPr>
        <p:txBody>
          <a:bodyPr wrap="square" lIns="0" tIns="0" rIns="0" bIns="0">
            <a:spAutoFit/>
          </a:bodyPr>
          <a:lstStyle/>
          <a:p>
            <a:pPr>
              <a:defRPr sz="2200" b="1">
                <a:solidFill>
                  <a:srgbClr val="FFFFFF"/>
                </a:solidFill>
                <a:latin typeface="Segoe UI"/>
              </a:defRPr>
            </a:pPr>
            <a:r>
              <a:t>The Deterministic-Override Engine: Eliminating All Hallucinations</a:t>
            </a:r>
          </a:p>
        </p:txBody>
      </p:sp>
      <p:sp>
        <p:nvSpPr>
          <p:cNvPr id="5" name="TextBox 4"/>
          <p:cNvSpPr txBox="1"/>
          <p:nvPr/>
        </p:nvSpPr>
        <p:spPr>
          <a:xfrm>
            <a:off x="731520" y="1170432"/>
            <a:ext cx="10698480" cy="292608"/>
          </a:xfrm>
          <a:prstGeom prst="rect">
            <a:avLst/>
          </a:prstGeom>
          <a:noFill/>
        </p:spPr>
        <p:txBody>
          <a:bodyPr wrap="square" lIns="0" tIns="0" rIns="0" bIns="0">
            <a:spAutoFit/>
          </a:bodyPr>
          <a:lstStyle/>
          <a:p>
            <a:pPr>
              <a:defRPr sz="1100">
                <a:solidFill>
                  <a:srgbClr val="06B6D4"/>
                </a:solidFill>
                <a:latin typeface="Segoe UI"/>
              </a:defRPr>
            </a:pPr>
            <a:r>
              <a:t>SLMs reason and explain; deterministic pharmacology matrices decide and protect</a:t>
            </a:r>
          </a:p>
        </p:txBody>
      </p:sp>
      <p:sp>
        <p:nvSpPr>
          <p:cNvPr id="6" name="Rounded Rectangle 5"/>
          <p:cNvSpPr/>
          <p:nvPr/>
        </p:nvSpPr>
        <p:spPr>
          <a:xfrm>
            <a:off x="731520" y="1554480"/>
            <a:ext cx="10728655" cy="640080"/>
          </a:xfrm>
          <a:prstGeom prst="roundRect">
            <a:avLst/>
          </a:prstGeom>
          <a:solidFill>
            <a:srgbClr val="0C1C16"/>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defRPr sz="950" b="1">
                <a:solidFill>
                  <a:srgbClr val="10B981"/>
                </a:solidFill>
                <a:latin typeface="Segoe UI"/>
              </a:defRPr>
            </a:pPr>
            <a:r>
              <a:t>THE AIRPLANE AUTOPILOT ANALOGY: The local AI is like a helpful co-pilot who translates data into plain clinical advice. But the deterministic rule engine is the physical terrain alarm. If the co-pilot tries to turn off the alarm, the physical switch overrides them. The AI can NEVER clear a dangerous drug on its own.</a:t>
            </a:r>
          </a:p>
        </p:txBody>
      </p:sp>
      <p:sp>
        <p:nvSpPr>
          <p:cNvPr id="7" name="Rounded Rectangle 6"/>
          <p:cNvSpPr/>
          <p:nvPr/>
        </p:nvSpPr>
        <p:spPr>
          <a:xfrm>
            <a:off x="731520" y="1554480"/>
            <a:ext cx="10728655" cy="5486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2331720"/>
            <a:ext cx="6035040" cy="1965960"/>
          </a:xfrm>
          <a:prstGeom prst="roundRect">
            <a:avLst/>
          </a:prstGeom>
          <a:solidFill>
            <a:srgbClr val="131F37"/>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spcAft>
                <a:spcPts val="200"/>
              </a:spcAft>
              <a:defRPr sz="1100" b="1">
                <a:solidFill>
                  <a:srgbClr val="10B981"/>
                </a:solidFill>
                <a:latin typeface="Segoe UI"/>
              </a:defRPr>
            </a:pPr>
            <a:r>
              <a:t>LAYER 1: DETERMINISTIC PHARMACOLOGY MATRIX (SQLite)</a:t>
            </a:r>
          </a:p>
          <a:p>
            <a:pPr>
              <a:lnSpc>
                <a:spcPct val="115000"/>
              </a:lnSpc>
              <a:defRPr sz="950">
                <a:solidFill>
                  <a:srgbClr val="E2E8F0"/>
                </a:solidFill>
                <a:latin typeface="Segoe UI"/>
              </a:defRPr>
            </a:pPr>
            <a:r>
              <a:t>- Plain English: Hard medical rules that cannot be fooled by prompt engineering.</a:t>
            </a:r>
            <a:br/>
            <a:r>
              <a:t>- Under The Hood: Cockcroft-Gault CrCl calculations, AGS Beers 2023 elderly criteria, lab biomarker cutoffs (eGFR &lt; 30, K+ &gt; 5.0, INR &gt; 3.5).</a:t>
            </a:r>
            <a:br/>
            <a:r>
              <a:t>- VERDICT IS FINAL: Cannot be silenced, overruled, or diluted by the LLM.</a:t>
            </a:r>
          </a:p>
        </p:txBody>
      </p:sp>
      <p:sp>
        <p:nvSpPr>
          <p:cNvPr id="9" name="Rounded Rectangle 8"/>
          <p:cNvSpPr/>
          <p:nvPr/>
        </p:nvSpPr>
        <p:spPr>
          <a:xfrm>
            <a:off x="731520" y="2331720"/>
            <a:ext cx="6035040" cy="5486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4434840"/>
            <a:ext cx="6035040" cy="1965960"/>
          </a:xfrm>
          <a:prstGeom prst="roundRect">
            <a:avLst/>
          </a:prstGeom>
          <a:solidFill>
            <a:srgbClr val="131F37"/>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spcAft>
                <a:spcPts val="200"/>
              </a:spcAft>
              <a:defRPr sz="1100" b="1">
                <a:solidFill>
                  <a:srgbClr val="06B6D4"/>
                </a:solidFill>
                <a:latin typeface="Segoe UI"/>
              </a:defRPr>
            </a:pPr>
            <a:r>
              <a:t>LAYER 2: LOCAL SLM REASONING BRIDGE (Ollama llama3.2:3b)</a:t>
            </a:r>
          </a:p>
          <a:p>
            <a:pPr>
              <a:lnSpc>
                <a:spcPct val="115000"/>
              </a:lnSpc>
              <a:defRPr sz="950">
                <a:solidFill>
                  <a:srgbClr val="E2E8F0"/>
                </a:solidFill>
                <a:latin typeface="Segoe UI"/>
              </a:defRPr>
            </a:pPr>
            <a:r>
              <a:t>- Plain English: Translates warnings into clear clinical doctor advice.</a:t>
            </a:r>
            <a:br/>
            <a:r>
              <a:t>- Under The Hood: Explains biochemical mechanisms (e.g. COX-1/2 prostaglandin inhibition in renal arterioles) and suggests formulary swaps (Linagliptin, Acetaminophen).</a:t>
            </a:r>
            <a:br/>
            <a:r>
              <a:t>- CAN NEVER INTRODUCE A CLEARANCE FLAG WITHOUT GROUND TRUTH.</a:t>
            </a:r>
          </a:p>
        </p:txBody>
      </p:sp>
      <p:sp>
        <p:nvSpPr>
          <p:cNvPr id="11" name="Rounded Rectangle 10"/>
          <p:cNvSpPr/>
          <p:nvPr/>
        </p:nvSpPr>
        <p:spPr>
          <a:xfrm>
            <a:off x="731520" y="4434840"/>
            <a:ext cx="6035040" cy="54864"/>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949440" y="2331720"/>
            <a:ext cx="4510735" cy="4069080"/>
          </a:xfrm>
          <a:prstGeom prst="roundRect">
            <a:avLst/>
          </a:prstGeom>
          <a:solidFill>
            <a:srgbClr val="131F37"/>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spcAft>
                <a:spcPts val="600"/>
              </a:spcAft>
              <a:defRPr sz="1150" b="1">
                <a:solidFill>
                  <a:srgbClr val="F59E0B"/>
                </a:solidFill>
                <a:latin typeface="Segoe UI"/>
              </a:defRPr>
            </a:pPr>
            <a:r>
              <a:t>WHY JUDGES AWARD HIGH SCORES HERE</a:t>
            </a:r>
          </a:p>
          <a:p>
            <a:pPr>
              <a:spcAft>
                <a:spcPts val="100"/>
              </a:spcAft>
              <a:defRPr sz="1000" b="1">
                <a:solidFill>
                  <a:srgbClr val="FFFFFF"/>
                </a:solidFill>
                <a:latin typeface="Segoe UI"/>
              </a:defRPr>
            </a:pPr>
            <a:r>
              <a:t>1. Eliminates Hallucination Risk</a:t>
            </a:r>
          </a:p>
          <a:p>
            <a:pPr>
              <a:lnSpc>
                <a:spcPct val="115000"/>
              </a:lnSpc>
              <a:spcAft>
                <a:spcPts val="400"/>
              </a:spcAft>
              <a:defRPr sz="900">
                <a:solidFill>
                  <a:srgbClr val="94A3B8"/>
                </a:solidFill>
                <a:latin typeface="Segoe UI"/>
              </a:defRPr>
            </a:pPr>
            <a:r>
              <a:t>Judges always ask: 'What if the LLM hallucinates?' In MediVault, the LLM has zero authority to clear patients. It is solely an explanatory synthesizer.</a:t>
            </a:r>
          </a:p>
          <a:p>
            <a:pPr>
              <a:spcAft>
                <a:spcPts val="100"/>
              </a:spcAft>
              <a:defRPr sz="1000" b="1">
                <a:solidFill>
                  <a:srgbClr val="FFFFFF"/>
                </a:solidFill>
                <a:latin typeface="Segoe UI"/>
              </a:defRPr>
            </a:pPr>
            <a:r>
              <a:t>2. Graceful Zero-Downtime Fallback</a:t>
            </a:r>
          </a:p>
          <a:p>
            <a:pPr>
              <a:lnSpc>
                <a:spcPct val="115000"/>
              </a:lnSpc>
              <a:spcAft>
                <a:spcPts val="400"/>
              </a:spcAft>
              <a:defRPr sz="900">
                <a:solidFill>
                  <a:srgbClr val="94A3B8"/>
                </a:solidFill>
                <a:latin typeface="Segoe UI"/>
              </a:defRPr>
            </a:pPr>
            <a:r>
              <a:t>If Ollama terminates or the PC lacks GPU/RAM, built-in deterministic synthesis rules immediately take over with 0ms interruption.</a:t>
            </a:r>
          </a:p>
          <a:p>
            <a:pPr>
              <a:spcAft>
                <a:spcPts val="100"/>
              </a:spcAft>
              <a:defRPr sz="1000" b="1">
                <a:solidFill>
                  <a:srgbClr val="FFFFFF"/>
                </a:solidFill>
                <a:latin typeface="Segoe UI"/>
              </a:defRPr>
            </a:pPr>
            <a:r>
              <a:t>3. Meets FDA CDSS Class II Standards</a:t>
            </a:r>
          </a:p>
          <a:p>
            <a:pPr>
              <a:lnSpc>
                <a:spcPct val="115000"/>
              </a:lnSpc>
              <a:spcAft>
                <a:spcPts val="400"/>
              </a:spcAft>
              <a:defRPr sz="900">
                <a:solidFill>
                  <a:srgbClr val="94A3B8"/>
                </a:solidFill>
                <a:latin typeface="Segoe UI"/>
              </a:defRPr>
            </a:pPr>
            <a:r>
              <a:t>Autonomous generative guessing in life-critical clinical decisions is legally impermissible. Our deterministic layer ensures compliance.</a:t>
            </a:r>
          </a:p>
        </p:txBody>
      </p:sp>
      <p:sp>
        <p:nvSpPr>
          <p:cNvPr id="13" name="Rounded Rectangle 12"/>
          <p:cNvSpPr/>
          <p:nvPr/>
        </p:nvSpPr>
        <p:spPr>
          <a:xfrm>
            <a:off x="6949440" y="2331720"/>
            <a:ext cx="4510735" cy="54864"/>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840480" cy="256032"/>
          </a:xfrm>
          <a:prstGeom prst="roundRect">
            <a:avLst/>
          </a:prstGeom>
          <a:solidFill>
            <a:srgbClr val="0F1C3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lIns="109728" tIns="0" bIns="0" rIns="0"/>
          <a:lstStyle/>
          <a:p>
            <a:pPr algn="ctr">
              <a:defRPr sz="950" b="1">
                <a:solidFill>
                  <a:srgbClr val="06B6D4"/>
                </a:solidFill>
                <a:latin typeface="Segoe UI"/>
              </a:defRPr>
            </a:pPr>
            <a:r>
              <a:t>PRODUCT EXPERIENCE &amp; LIVE DEMONSTRATION</a:t>
            </a:r>
          </a:p>
        </p:txBody>
      </p:sp>
      <p:sp>
        <p:nvSpPr>
          <p:cNvPr id="4" name="TextBox 3"/>
          <p:cNvSpPr txBox="1"/>
          <p:nvPr/>
        </p:nvSpPr>
        <p:spPr>
          <a:xfrm>
            <a:off x="731520" y="658368"/>
            <a:ext cx="10698480" cy="502920"/>
          </a:xfrm>
          <a:prstGeom prst="rect">
            <a:avLst/>
          </a:prstGeom>
          <a:noFill/>
        </p:spPr>
        <p:txBody>
          <a:bodyPr wrap="square" lIns="0" tIns="0" rIns="0" bIns="0">
            <a:spAutoFit/>
          </a:bodyPr>
          <a:lstStyle/>
          <a:p>
            <a:pPr>
              <a:defRPr sz="2200" b="1">
                <a:solidFill>
                  <a:srgbClr val="FFFFFF"/>
                </a:solidFill>
                <a:latin typeface="Segoe UI"/>
              </a:defRPr>
            </a:pPr>
            <a:r>
              <a:t>The Physician CDSS Dashboard &amp; Real-Time Contraindication Triage</a:t>
            </a:r>
          </a:p>
        </p:txBody>
      </p:sp>
      <p:sp>
        <p:nvSpPr>
          <p:cNvPr id="5" name="TextBox 4"/>
          <p:cNvSpPr txBox="1"/>
          <p:nvPr/>
        </p:nvSpPr>
        <p:spPr>
          <a:xfrm>
            <a:off x="731520" y="1170432"/>
            <a:ext cx="10698480" cy="292608"/>
          </a:xfrm>
          <a:prstGeom prst="rect">
            <a:avLst/>
          </a:prstGeom>
          <a:noFill/>
        </p:spPr>
        <p:txBody>
          <a:bodyPr wrap="square" lIns="0" tIns="0" rIns="0" bIns="0">
            <a:spAutoFit/>
          </a:bodyPr>
          <a:lstStyle/>
          <a:p>
            <a:pPr>
              <a:defRPr sz="1100">
                <a:solidFill>
                  <a:srgbClr val="06B6D4"/>
                </a:solidFill>
                <a:latin typeface="Segoe UI"/>
              </a:defRPr>
            </a:pPr>
            <a:r>
              <a:t>Interactive live clinical execution with sub-40ms response times</a:t>
            </a:r>
          </a:p>
        </p:txBody>
      </p:sp>
      <p:pic>
        <p:nvPicPr>
          <p:cNvPr id="6" name="Picture 5" descr="sovereign_clinical_hero.jpg"/>
          <p:cNvPicPr>
            <a:picLocks noChangeAspect="1"/>
          </p:cNvPicPr>
          <p:nvPr/>
        </p:nvPicPr>
        <p:blipFill>
          <a:blip r:embed="rId2"/>
          <a:stretch>
            <a:fillRect/>
          </a:stretch>
        </p:blipFill>
        <p:spPr>
          <a:xfrm>
            <a:off x="731520" y="1554480"/>
            <a:ext cx="5303520" cy="2926080"/>
          </a:xfrm>
          <a:prstGeom prst="rect">
            <a:avLst/>
          </a:prstGeom>
        </p:spPr>
      </p:pic>
      <p:sp>
        <p:nvSpPr>
          <p:cNvPr id="7" name="Rounded Rectangle 6"/>
          <p:cNvSpPr/>
          <p:nvPr/>
        </p:nvSpPr>
        <p:spPr>
          <a:xfrm>
            <a:off x="731520" y="4617720"/>
            <a:ext cx="5303520" cy="1783080"/>
          </a:xfrm>
          <a:prstGeom prst="roundRect">
            <a:avLst/>
          </a:prstGeom>
          <a:solidFill>
            <a:srgbClr val="131F37"/>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spcAft>
                <a:spcPts val="200"/>
              </a:spcAft>
              <a:defRPr sz="1050" b="1">
                <a:solidFill>
                  <a:srgbClr val="F59E0B"/>
                </a:solidFill>
                <a:latin typeface="Segoe UI"/>
              </a:defRPr>
            </a:pPr>
            <a:r>
              <a:t>PRODUCTIVITY DESIGNED FOR DOCTORS</a:t>
            </a:r>
          </a:p>
          <a:p>
            <a:pPr>
              <a:lnSpc>
                <a:spcPct val="115000"/>
              </a:lnSpc>
              <a:defRPr sz="950">
                <a:solidFill>
                  <a:srgbClr val="E2E8F0"/>
                </a:solidFill>
                <a:latin typeface="Segoe UI"/>
              </a:defRPr>
            </a:pPr>
            <a:r>
              <a:t>- Lightning-Fast: Under 40ms per clinical evaluation.</a:t>
            </a:r>
            <a:br/>
            <a:r>
              <a:t>- Keyboard Driven: Ctrl+1..5 switches views; Ctrl+6 opens the Judge Challenge Suite with 1-click crisis scenarios.</a:t>
            </a:r>
            <a:br/>
            <a:r>
              <a:t>- Zero Doctor Friction: Brand-to-generic auto-normalization so doctors don't need to look up chemical names.</a:t>
            </a:r>
          </a:p>
        </p:txBody>
      </p:sp>
      <p:sp>
        <p:nvSpPr>
          <p:cNvPr id="8" name="Rounded Rectangle 7"/>
          <p:cNvSpPr/>
          <p:nvPr/>
        </p:nvSpPr>
        <p:spPr>
          <a:xfrm>
            <a:off x="731520" y="4617720"/>
            <a:ext cx="5303520" cy="54864"/>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0" y="1554480"/>
            <a:ext cx="5242255" cy="4846320"/>
          </a:xfrm>
          <a:prstGeom prst="roundRect">
            <a:avLst/>
          </a:prstGeom>
          <a:solidFill>
            <a:srgbClr val="131F37"/>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spcAft>
                <a:spcPts val="600"/>
              </a:spcAft>
              <a:defRPr sz="1200" b="1">
                <a:solidFill>
                  <a:srgbClr val="06B6D4"/>
                </a:solidFill>
                <a:latin typeface="Segoe UI"/>
              </a:defRPr>
            </a:pPr>
            <a:r>
              <a:t>THE KILLER DEMO MOVES FOR JUDGES</a:t>
            </a:r>
          </a:p>
          <a:p>
            <a:pPr>
              <a:spcAft>
                <a:spcPts val="100"/>
              </a:spcAft>
              <a:defRPr sz="1050" b="1">
                <a:solidFill>
                  <a:srgbClr val="10B981"/>
                </a:solidFill>
                <a:latin typeface="Segoe UI"/>
              </a:defRPr>
            </a:pPr>
            <a:r>
              <a:t>BEAT 1: The Air-Gap Kill Move</a:t>
            </a:r>
          </a:p>
          <a:p>
            <a:pPr>
              <a:lnSpc>
                <a:spcPct val="115000"/>
              </a:lnSpc>
              <a:spcAft>
                <a:spcPts val="400"/>
              </a:spcAft>
              <a:defRPr sz="950">
                <a:solidFill>
                  <a:srgbClr val="94A3B8"/>
                </a:solidFill>
                <a:latin typeface="Segoe UI"/>
              </a:defRPr>
            </a:pPr>
            <a:r>
              <a:t>Sever Wi-Fi live in front of judges. The pulsing green indicator confirms: 'AIR-GAPPED: 0 BYTES TRANSMITTED (127.0.0.1)'. Refresh page-everything runs on localhost.</a:t>
            </a:r>
          </a:p>
          <a:p>
            <a:pPr>
              <a:spcAft>
                <a:spcPts val="100"/>
              </a:spcAft>
              <a:defRPr sz="1050" b="1">
                <a:solidFill>
                  <a:srgbClr val="10B981"/>
                </a:solidFill>
                <a:latin typeface="Segoe UI"/>
              </a:defRPr>
            </a:pPr>
            <a:r>
              <a:t>BEAT 2: Brand Name Normalization &amp; Alert</a:t>
            </a:r>
          </a:p>
          <a:p>
            <a:pPr>
              <a:lnSpc>
                <a:spcPct val="115000"/>
              </a:lnSpc>
              <a:spcAft>
                <a:spcPts val="400"/>
              </a:spcAft>
              <a:defRPr sz="950">
                <a:solidFill>
                  <a:srgbClr val="94A3B8"/>
                </a:solidFill>
                <a:latin typeface="Segoe UI"/>
              </a:defRPr>
            </a:pPr>
            <a:r>
              <a:t>Doctor types 'Advil 400mg'. System normalizes to Ibuprofen, catches Stage 3 CKD danger in red ([CRITICAL ALERT]), and calculates toxic plasma accumulation.</a:t>
            </a:r>
          </a:p>
          <a:p>
            <a:pPr>
              <a:spcAft>
                <a:spcPts val="100"/>
              </a:spcAft>
              <a:defRPr sz="1050" b="1">
                <a:solidFill>
                  <a:srgbClr val="10B981"/>
                </a:solidFill>
                <a:latin typeface="Segoe UI"/>
              </a:defRPr>
            </a:pPr>
            <a:r>
              <a:t>BEAT 3: Dynamic PK Accumulation Simulator</a:t>
            </a:r>
          </a:p>
          <a:p>
            <a:pPr>
              <a:lnSpc>
                <a:spcPct val="115000"/>
              </a:lnSpc>
              <a:spcAft>
                <a:spcPts val="400"/>
              </a:spcAft>
              <a:defRPr sz="950">
                <a:solidFill>
                  <a:srgbClr val="94A3B8"/>
                </a:solidFill>
                <a:latin typeface="Segoe UI"/>
              </a:defRPr>
            </a:pPr>
            <a:r>
              <a:t>Rowland &amp; Tozer renal clearance simulation charts drug plasma accumulation over 72h, warning of toxic ceiling breaches.</a:t>
            </a:r>
          </a:p>
          <a:p>
            <a:pPr>
              <a:spcAft>
                <a:spcPts val="100"/>
              </a:spcAft>
              <a:defRPr sz="1050" b="1">
                <a:solidFill>
                  <a:srgbClr val="10B981"/>
                </a:solidFill>
                <a:latin typeface="Segoe UI"/>
              </a:defRPr>
            </a:pPr>
            <a:r>
              <a:t>BEAT 4: 1-Click Safe Formulary Swap</a:t>
            </a:r>
          </a:p>
          <a:p>
            <a:pPr>
              <a:lnSpc>
                <a:spcPct val="115000"/>
              </a:lnSpc>
              <a:spcAft>
                <a:spcPts val="400"/>
              </a:spcAft>
              <a:defRPr sz="950">
                <a:solidFill>
                  <a:srgbClr val="94A3B8"/>
                </a:solidFill>
                <a:latin typeface="Segoe UI"/>
              </a:defRPr>
            </a:pPr>
            <a:r>
              <a:t>Clinician clicks '1-Click Swap' to Acetaminophen 500mg. CDSS immediately re-evaluates and clears: [PRESCRIPTION CLEARED (SAFE)].</a:t>
            </a:r>
          </a:p>
        </p:txBody>
      </p:sp>
      <p:sp>
        <p:nvSpPr>
          <p:cNvPr id="10" name="Rounded Rectangle 9"/>
          <p:cNvSpPr/>
          <p:nvPr/>
        </p:nvSpPr>
        <p:spPr>
          <a:xfrm>
            <a:off x="6217920" y="1554480"/>
            <a:ext cx="5242255" cy="54864"/>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840480" cy="256032"/>
          </a:xfrm>
          <a:prstGeom prst="roundRect">
            <a:avLst/>
          </a:prstGeom>
          <a:solidFill>
            <a:srgbClr val="0F1C3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lIns="109728" tIns="0" bIns="0" rIns="0"/>
          <a:lstStyle/>
          <a:p>
            <a:pPr algn="ctr">
              <a:defRPr sz="950" b="1">
                <a:solidFill>
                  <a:srgbClr val="06B6D4"/>
                </a:solidFill>
                <a:latin typeface="Segoe UI"/>
              </a:defRPr>
            </a:pPr>
            <a:r>
              <a:t>SECURITY, INTEROPERABILITY &amp; CRYPTOGRAPHY</a:t>
            </a:r>
          </a:p>
        </p:txBody>
      </p:sp>
      <p:sp>
        <p:nvSpPr>
          <p:cNvPr id="4" name="TextBox 3"/>
          <p:cNvSpPr txBox="1"/>
          <p:nvPr/>
        </p:nvSpPr>
        <p:spPr>
          <a:xfrm>
            <a:off x="731520" y="658368"/>
            <a:ext cx="10698480" cy="502920"/>
          </a:xfrm>
          <a:prstGeom prst="rect">
            <a:avLst/>
          </a:prstGeom>
          <a:noFill/>
        </p:spPr>
        <p:txBody>
          <a:bodyPr wrap="square" lIns="0" tIns="0" rIns="0" bIns="0">
            <a:spAutoFit/>
          </a:bodyPr>
          <a:lstStyle/>
          <a:p>
            <a:pPr>
              <a:defRPr sz="2200" b="1">
                <a:solidFill>
                  <a:srgbClr val="FFFFFF"/>
                </a:solidFill>
                <a:latin typeface="Segoe UI"/>
              </a:defRPr>
            </a:pPr>
            <a:r>
              <a:t>The Secret Weapons: Optical QR &amp; Merkle Audit Ledger</a:t>
            </a:r>
          </a:p>
        </p:txBody>
      </p:sp>
      <p:sp>
        <p:nvSpPr>
          <p:cNvPr id="5" name="TextBox 4"/>
          <p:cNvSpPr txBox="1"/>
          <p:nvPr/>
        </p:nvSpPr>
        <p:spPr>
          <a:xfrm>
            <a:off x="731520" y="1170432"/>
            <a:ext cx="10698480" cy="292608"/>
          </a:xfrm>
          <a:prstGeom prst="rect">
            <a:avLst/>
          </a:prstGeom>
          <a:noFill/>
        </p:spPr>
        <p:txBody>
          <a:bodyPr wrap="square" lIns="0" tIns="0" rIns="0" bIns="0">
            <a:spAutoFit/>
          </a:bodyPr>
          <a:lstStyle/>
          <a:p>
            <a:pPr>
              <a:defRPr sz="1100">
                <a:solidFill>
                  <a:srgbClr val="06B6D4"/>
                </a:solidFill>
                <a:latin typeface="Segoe UI"/>
              </a:defRPr>
            </a:pPr>
            <a:r>
              <a:t>Zero-cable air-gap transfer and mathematically provable HIPAA compliance</a:t>
            </a:r>
          </a:p>
        </p:txBody>
      </p:sp>
      <p:pic>
        <p:nvPicPr>
          <p:cNvPr id="6" name="Picture 5" descr="merkle_airgap_vault.jpg"/>
          <p:cNvPicPr>
            <a:picLocks noChangeAspect="1"/>
          </p:cNvPicPr>
          <p:nvPr/>
        </p:nvPicPr>
        <p:blipFill>
          <a:blip r:embed="rId2"/>
          <a:stretch>
            <a:fillRect/>
          </a:stretch>
        </p:blipFill>
        <p:spPr>
          <a:xfrm>
            <a:off x="731520" y="1554480"/>
            <a:ext cx="5303520" cy="2926080"/>
          </a:xfrm>
          <a:prstGeom prst="rect">
            <a:avLst/>
          </a:prstGeom>
        </p:spPr>
      </p:pic>
      <p:sp>
        <p:nvSpPr>
          <p:cNvPr id="7" name="Rounded Rectangle 6"/>
          <p:cNvSpPr/>
          <p:nvPr/>
        </p:nvSpPr>
        <p:spPr>
          <a:xfrm>
            <a:off x="731520" y="4617720"/>
            <a:ext cx="5303520" cy="1783080"/>
          </a:xfrm>
          <a:prstGeom prst="roundRect">
            <a:avLst/>
          </a:prstGeom>
          <a:solidFill>
            <a:srgbClr val="131F37"/>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spcAft>
                <a:spcPts val="200"/>
              </a:spcAft>
              <a:defRPr sz="1050" b="1">
                <a:solidFill>
                  <a:srgbClr val="F59E0B"/>
                </a:solidFill>
                <a:latin typeface="Segoe UI"/>
              </a:defRPr>
            </a:pPr>
            <a:r>
              <a:t>OFFICIAL HOSPITAL CLEARANCE CERTIFICATE</a:t>
            </a:r>
          </a:p>
          <a:p>
            <a:pPr>
              <a:lnSpc>
                <a:spcPct val="115000"/>
              </a:lnSpc>
              <a:defRPr sz="950">
                <a:solidFill>
                  <a:srgbClr val="E2E8F0"/>
                </a:solidFill>
                <a:latin typeface="Segoe UI"/>
              </a:defRPr>
            </a:pPr>
            <a:r>
              <a:t>Doctors can print a legal hospital clearance certificate with an embedded SHA-256 Merkle proof that pharmacies can verify against the local hospital ledger, preventing prescription forgery.</a:t>
            </a:r>
          </a:p>
        </p:txBody>
      </p:sp>
      <p:sp>
        <p:nvSpPr>
          <p:cNvPr id="8" name="Rounded Rectangle 7"/>
          <p:cNvSpPr/>
          <p:nvPr/>
        </p:nvSpPr>
        <p:spPr>
          <a:xfrm>
            <a:off x="731520" y="4617720"/>
            <a:ext cx="5303520" cy="54864"/>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0" y="1554480"/>
            <a:ext cx="5242255" cy="4846320"/>
          </a:xfrm>
          <a:prstGeom prst="roundRect">
            <a:avLst/>
          </a:prstGeom>
          <a:solidFill>
            <a:srgbClr val="131F37"/>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spcAft>
                <a:spcPts val="600"/>
              </a:spcAft>
              <a:defRPr sz="1200" b="1">
                <a:solidFill>
                  <a:srgbClr val="06B6D4"/>
                </a:solidFill>
                <a:latin typeface="Segoe UI"/>
              </a:defRPr>
            </a:pPr>
            <a:r>
              <a:t>HOW WE SOLVE AIR-GAPPED TRUST</a:t>
            </a:r>
          </a:p>
          <a:p>
            <a:pPr>
              <a:spcAft>
                <a:spcPts val="100"/>
              </a:spcAft>
              <a:defRPr sz="1050" b="1">
                <a:solidFill>
                  <a:srgbClr val="10B981"/>
                </a:solidFill>
                <a:latin typeface="Segoe UI"/>
              </a:defRPr>
            </a:pPr>
            <a:r>
              <a:t>The Bank Vault Metaphor (Local Merkle Ledger)</a:t>
            </a:r>
          </a:p>
          <a:p>
            <a:pPr>
              <a:lnSpc>
                <a:spcPct val="115000"/>
              </a:lnSpc>
              <a:spcAft>
                <a:spcPts val="400"/>
              </a:spcAft>
              <a:defRPr sz="950">
                <a:solidFill>
                  <a:srgbClr val="94A3B8"/>
                </a:solidFill>
                <a:latin typeface="Segoe UI"/>
              </a:defRPr>
            </a:pPr>
            <a:r>
              <a:t>Think of this like a digital wax seal on every medical decision. Every review seals doctor ID, patient hash, and verdict into an immutable SHA-256 chain.</a:t>
            </a:r>
            <a:br/>
            <a:r>
              <a:t>If anyone modifies a prescription later to cover up an error, the math immediately proves tampering (HIPAA Section 164.312b).</a:t>
            </a:r>
          </a:p>
          <a:p>
            <a:pPr>
              <a:spcAft>
                <a:spcPts val="100"/>
              </a:spcAft>
              <a:defRPr sz="1050" b="1">
                <a:solidFill>
                  <a:srgbClr val="10B981"/>
                </a:solidFill>
                <a:latin typeface="Segoe UI"/>
              </a:defRPr>
            </a:pPr>
            <a:r>
              <a:t>Base64 + zlib Optical Air-Gap QR Transfer</a:t>
            </a:r>
          </a:p>
          <a:p>
            <a:pPr>
              <a:lnSpc>
                <a:spcPct val="115000"/>
              </a:lnSpc>
              <a:spcAft>
                <a:spcPts val="400"/>
              </a:spcAft>
              <a:defRPr sz="950">
                <a:solidFill>
                  <a:srgbClr val="94A3B8"/>
                </a:solidFill>
                <a:latin typeface="Segoe UI"/>
              </a:defRPr>
            </a:pPr>
            <a:r>
              <a:t>How do we transfer data between isolated computers? USB drives bring malware, and Wi-Fi can be hacked. We compress entire medical clearance bundles into high-density dynamic SVG QR codes scanned camera-to-screen.</a:t>
            </a:r>
          </a:p>
          <a:p>
            <a:pPr>
              <a:spcAft>
                <a:spcPts val="100"/>
              </a:spcAft>
              <a:defRPr sz="1050" b="1">
                <a:solidFill>
                  <a:srgbClr val="10B981"/>
                </a:solidFill>
                <a:latin typeface="Segoe UI"/>
              </a:defRPr>
            </a:pPr>
            <a:r>
              <a:t>Enterprise Standards: HL7 FHIR R4 &amp; CDS Hooks</a:t>
            </a:r>
          </a:p>
          <a:p>
            <a:pPr>
              <a:lnSpc>
                <a:spcPct val="115000"/>
              </a:lnSpc>
              <a:spcAft>
                <a:spcPts val="400"/>
              </a:spcAft>
              <a:defRPr sz="950">
                <a:solidFill>
                  <a:srgbClr val="94A3B8"/>
                </a:solidFill>
                <a:latin typeface="Segoe UI"/>
              </a:defRPr>
            </a:pPr>
            <a:r>
              <a:t>Implements official HL7 CDS Hooks medication-prescribe cards and generates FHIR R4 Bundles for seamless hospital integration.</a:t>
            </a:r>
          </a:p>
        </p:txBody>
      </p:sp>
      <p:sp>
        <p:nvSpPr>
          <p:cNvPr id="10" name="Rounded Rectangle 9"/>
          <p:cNvSpPr/>
          <p:nvPr/>
        </p:nvSpPr>
        <p:spPr>
          <a:xfrm>
            <a:off x="6217920" y="1554480"/>
            <a:ext cx="5242255" cy="54864"/>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840480" cy="256032"/>
          </a:xfrm>
          <a:prstGeom prst="roundRect">
            <a:avLst/>
          </a:prstGeom>
          <a:solidFill>
            <a:srgbClr val="0F1C30"/>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lIns="109728" tIns="0" bIns="0" rIns="0"/>
          <a:lstStyle/>
          <a:p>
            <a:pPr algn="ctr">
              <a:defRPr sz="950" b="1">
                <a:solidFill>
                  <a:srgbClr val="EF4444"/>
                </a:solidFill>
                <a:latin typeface="Segoe UI"/>
              </a:defRPr>
            </a:pPr>
            <a:r>
              <a:t>ENGINEERING DEPTH &amp; RESILIENCE</a:t>
            </a:r>
          </a:p>
        </p:txBody>
      </p:sp>
      <p:sp>
        <p:nvSpPr>
          <p:cNvPr id="4" name="TextBox 3"/>
          <p:cNvSpPr txBox="1"/>
          <p:nvPr/>
        </p:nvSpPr>
        <p:spPr>
          <a:xfrm>
            <a:off x="731520" y="658368"/>
            <a:ext cx="10698480" cy="502920"/>
          </a:xfrm>
          <a:prstGeom prst="rect">
            <a:avLst/>
          </a:prstGeom>
          <a:noFill/>
        </p:spPr>
        <p:txBody>
          <a:bodyPr wrap="square" lIns="0" tIns="0" rIns="0" bIns="0">
            <a:spAutoFit/>
          </a:bodyPr>
          <a:lstStyle/>
          <a:p>
            <a:pPr>
              <a:defRPr sz="2200" b="1">
                <a:solidFill>
                  <a:srgbClr val="FFFFFF"/>
                </a:solidFill>
                <a:latin typeface="Segoe UI"/>
              </a:defRPr>
            </a:pPr>
            <a:r>
              <a:t>Four Critical Battles: What Broke &amp; How We Fixed It</a:t>
            </a:r>
          </a:p>
        </p:txBody>
      </p:sp>
      <p:sp>
        <p:nvSpPr>
          <p:cNvPr id="5" name="TextBox 4"/>
          <p:cNvSpPr txBox="1"/>
          <p:nvPr/>
        </p:nvSpPr>
        <p:spPr>
          <a:xfrm>
            <a:off x="731520" y="1170432"/>
            <a:ext cx="10698480" cy="292608"/>
          </a:xfrm>
          <a:prstGeom prst="rect">
            <a:avLst/>
          </a:prstGeom>
          <a:noFill/>
        </p:spPr>
        <p:txBody>
          <a:bodyPr wrap="square" lIns="0" tIns="0" rIns="0" bIns="0">
            <a:spAutoFit/>
          </a:bodyPr>
          <a:lstStyle/>
          <a:p>
            <a:pPr>
              <a:defRPr sz="1100">
                <a:solidFill>
                  <a:srgbClr val="06B6D4"/>
                </a:solidFill>
                <a:latin typeface="Segoe UI"/>
              </a:defRPr>
            </a:pPr>
            <a:r>
              <a:t>Real engineering hurdles overcome during architecture development</a:t>
            </a:r>
          </a:p>
        </p:txBody>
      </p:sp>
      <p:sp>
        <p:nvSpPr>
          <p:cNvPr id="6" name="Rounded Rectangle 5"/>
          <p:cNvSpPr/>
          <p:nvPr/>
        </p:nvSpPr>
        <p:spPr>
          <a:xfrm>
            <a:off x="731520" y="1554480"/>
            <a:ext cx="5175504" cy="2331720"/>
          </a:xfrm>
          <a:prstGeom prst="roundRect">
            <a:avLst/>
          </a:prstGeom>
          <a:solidFill>
            <a:srgbClr val="131F37"/>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spcAft>
                <a:spcPts val="200"/>
              </a:spcAft>
              <a:defRPr sz="1100" b="1">
                <a:solidFill>
                  <a:srgbClr val="EF4444"/>
                </a:solidFill>
                <a:latin typeface="Segoe UI"/>
              </a:defRPr>
            </a:pPr>
            <a:r>
              <a:t>BATTLE 1: AI HALLUCINATIONS</a:t>
            </a:r>
          </a:p>
          <a:p>
            <a:pPr>
              <a:lnSpc>
                <a:spcPct val="115000"/>
              </a:lnSpc>
              <a:defRPr sz="950">
                <a:solidFill>
                  <a:srgbClr val="E2E8F0"/>
                </a:solidFill>
                <a:latin typeface="Segoe UI"/>
              </a:defRPr>
            </a:pPr>
            <a:r>
              <a:t>WHAT BROKE: Local SLMs (llama3.2:3b) occasionally approved dangerous drug combos when given polite or confusing user prompts.</a:t>
            </a:r>
            <a:br/>
            <a:br/>
            <a:r>
              <a:t>HOW WE FIXED IT: Built a Deterministic Override Gate. If SQLite finds a medical rule breach, the AI is completely stripped of clearance authority and restricted to explanatory notes only.</a:t>
            </a:r>
          </a:p>
        </p:txBody>
      </p:sp>
      <p:sp>
        <p:nvSpPr>
          <p:cNvPr id="7" name="Rounded Rectangle 6"/>
          <p:cNvSpPr/>
          <p:nvPr/>
        </p:nvSpPr>
        <p:spPr>
          <a:xfrm>
            <a:off x="731520" y="1554480"/>
            <a:ext cx="5175504" cy="54864"/>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72784" y="1554480"/>
            <a:ext cx="5175504" cy="2331720"/>
          </a:xfrm>
          <a:prstGeom prst="roundRect">
            <a:avLst/>
          </a:prstGeom>
          <a:solidFill>
            <a:srgbClr val="131F37"/>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spcAft>
                <a:spcPts val="200"/>
              </a:spcAft>
              <a:defRPr sz="1100" b="1">
                <a:solidFill>
                  <a:srgbClr val="F59E0B"/>
                </a:solidFill>
                <a:latin typeface="Segoe UI"/>
              </a:defRPr>
            </a:pPr>
            <a:r>
              <a:t>BATTLE 2: READING PAPER SLIPS OFFLINE</a:t>
            </a:r>
          </a:p>
          <a:p>
            <a:pPr>
              <a:lnSpc>
                <a:spcPct val="115000"/>
              </a:lnSpc>
              <a:defRPr sz="950">
                <a:solidFill>
                  <a:srgbClr val="E2E8F0"/>
                </a:solidFill>
                <a:latin typeface="Segoe UI"/>
              </a:defRPr>
            </a:pPr>
            <a:r>
              <a:t>WHAT BROKE: Real clinic prescriptions are crumpled paper slips. Cloud OCR (Google Vision, AWS Textract) violates HIPAA zero-cloud rules.</a:t>
            </a:r>
            <a:br/>
            <a:br/>
            <a:r>
              <a:t>HOW WE FIXED IT: Embedded RapidOCR (ONNX runtime) executing on local CPU in RAM, followed by 18 HIPAA Safe Harbor regex strippers.</a:t>
            </a:r>
          </a:p>
        </p:txBody>
      </p:sp>
      <p:sp>
        <p:nvSpPr>
          <p:cNvPr id="9" name="Rounded Rectangle 8"/>
          <p:cNvSpPr/>
          <p:nvPr/>
        </p:nvSpPr>
        <p:spPr>
          <a:xfrm>
            <a:off x="6272784" y="1554480"/>
            <a:ext cx="5175504" cy="54864"/>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4023360"/>
            <a:ext cx="5175504" cy="2331720"/>
          </a:xfrm>
          <a:prstGeom prst="roundRect">
            <a:avLst/>
          </a:prstGeom>
          <a:solidFill>
            <a:srgbClr val="131F37"/>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spcAft>
                <a:spcPts val="200"/>
              </a:spcAft>
              <a:defRPr sz="1100" b="1">
                <a:solidFill>
                  <a:srgbClr val="06B6D4"/>
                </a:solidFill>
                <a:latin typeface="Segoe UI"/>
              </a:defRPr>
            </a:pPr>
            <a:r>
              <a:t>BATTLE 3: DATABASE LOCKS</a:t>
            </a:r>
          </a:p>
          <a:p>
            <a:pPr>
              <a:lnSpc>
                <a:spcPct val="115000"/>
              </a:lnSpc>
              <a:defRPr sz="950">
                <a:solidFill>
                  <a:srgbClr val="E2E8F0"/>
                </a:solidFill>
                <a:latin typeface="Segoe UI"/>
              </a:defRPr>
            </a:pPr>
            <a:r>
              <a:t>WHAT BROKE: When 6 doctors entered orders at once on a hospital workstation, standard SQLite crashed with 'database is locked' errors.</a:t>
            </a:r>
            <a:br/>
            <a:br/>
            <a:r>
              <a:t>HOW WE FIXED IT: Configured SQLite Write-Ahead Logging (WAL) mode with thread-safe connection pooling. Stress-tested with 12 concurrent reviews: 100% success, 0 locks.</a:t>
            </a:r>
          </a:p>
        </p:txBody>
      </p:sp>
      <p:sp>
        <p:nvSpPr>
          <p:cNvPr id="11" name="Rounded Rectangle 10"/>
          <p:cNvSpPr/>
          <p:nvPr/>
        </p:nvSpPr>
        <p:spPr>
          <a:xfrm>
            <a:off x="731520" y="4023360"/>
            <a:ext cx="5175504" cy="54864"/>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2784" y="4023360"/>
            <a:ext cx="5175504" cy="2331720"/>
          </a:xfrm>
          <a:prstGeom prst="roundRect">
            <a:avLst/>
          </a:prstGeom>
          <a:solidFill>
            <a:srgbClr val="131F37"/>
          </a:solidFill>
          <a:ln w="1524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spcAft>
                <a:spcPts val="200"/>
              </a:spcAft>
              <a:defRPr sz="1100" b="1">
                <a:solidFill>
                  <a:srgbClr val="14B8A6"/>
                </a:solidFill>
                <a:latin typeface="Segoe UI"/>
              </a:defRPr>
            </a:pPr>
            <a:r>
              <a:t>BATTLE 4: AIR-GAPPED TRANSFER</a:t>
            </a:r>
          </a:p>
          <a:p>
            <a:pPr>
              <a:lnSpc>
                <a:spcPct val="115000"/>
              </a:lnSpc>
              <a:defRPr sz="950">
                <a:solidFill>
                  <a:srgbClr val="E2E8F0"/>
                </a:solidFill>
                <a:latin typeface="Segoe UI"/>
              </a:defRPr>
            </a:pPr>
            <a:r>
              <a:t>WHAT BROKE: Transferring clinical summaries between isolated wards without permitting USB thumb drives (malware risk) or network sockets.</a:t>
            </a:r>
            <a:br/>
            <a:br/>
            <a:r>
              <a:t>HOW WE FIXED IT: Designed Optical SVG QR Transfer using Base64 + zlib compression. Entire FHIR R4 bundles and Merkle hashes transmit camera-to-screen.</a:t>
            </a:r>
          </a:p>
        </p:txBody>
      </p:sp>
      <p:sp>
        <p:nvSpPr>
          <p:cNvPr id="13" name="Rounded Rectangle 12"/>
          <p:cNvSpPr/>
          <p:nvPr/>
        </p:nvSpPr>
        <p:spPr>
          <a:xfrm>
            <a:off x="6272784" y="4023360"/>
            <a:ext cx="5175504" cy="54864"/>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840480" cy="256032"/>
          </a:xfrm>
          <a:prstGeom prst="roundRect">
            <a:avLst/>
          </a:prstGeom>
          <a:solidFill>
            <a:srgbClr val="0F1C30"/>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109728" tIns="0" bIns="0" rIns="0"/>
          <a:lstStyle/>
          <a:p>
            <a:pPr algn="ctr">
              <a:defRPr sz="950" b="1">
                <a:solidFill>
                  <a:srgbClr val="10B981"/>
                </a:solidFill>
                <a:latin typeface="Segoe UI"/>
              </a:defRPr>
            </a:pPr>
            <a:r>
              <a:t>ASYNC'26 EVALUATION ALIGNMENT</a:t>
            </a:r>
          </a:p>
        </p:txBody>
      </p:sp>
      <p:sp>
        <p:nvSpPr>
          <p:cNvPr id="4" name="TextBox 3"/>
          <p:cNvSpPr txBox="1"/>
          <p:nvPr/>
        </p:nvSpPr>
        <p:spPr>
          <a:xfrm>
            <a:off x="731520" y="658368"/>
            <a:ext cx="10698480" cy="502920"/>
          </a:xfrm>
          <a:prstGeom prst="rect">
            <a:avLst/>
          </a:prstGeom>
          <a:noFill/>
        </p:spPr>
        <p:txBody>
          <a:bodyPr wrap="square" lIns="0" tIns="0" rIns="0" bIns="0">
            <a:spAutoFit/>
          </a:bodyPr>
          <a:lstStyle/>
          <a:p>
            <a:pPr>
              <a:defRPr sz="2200" b="1">
                <a:solidFill>
                  <a:srgbClr val="FFFFFF"/>
                </a:solidFill>
                <a:latin typeface="Segoe UI"/>
              </a:defRPr>
            </a:pPr>
            <a:r>
              <a:t>Judging Scorecard: 100% Target Met Across All Criteria</a:t>
            </a:r>
          </a:p>
        </p:txBody>
      </p:sp>
      <p:sp>
        <p:nvSpPr>
          <p:cNvPr id="5" name="TextBox 4"/>
          <p:cNvSpPr txBox="1"/>
          <p:nvPr/>
        </p:nvSpPr>
        <p:spPr>
          <a:xfrm>
            <a:off x="731520" y="1170432"/>
            <a:ext cx="10698480" cy="292608"/>
          </a:xfrm>
          <a:prstGeom prst="rect">
            <a:avLst/>
          </a:prstGeom>
          <a:noFill/>
        </p:spPr>
        <p:txBody>
          <a:bodyPr wrap="square" lIns="0" tIns="0" rIns="0" bIns="0">
            <a:spAutoFit/>
          </a:bodyPr>
          <a:lstStyle/>
          <a:p>
            <a:pPr>
              <a:defRPr sz="1100">
                <a:solidFill>
                  <a:srgbClr val="06B6D4"/>
                </a:solidFill>
                <a:latin typeface="Segoe UI"/>
              </a:defRPr>
            </a:pPr>
            <a:r>
              <a:t>Engineered to maximize scores across all 5 official judging dimensions</a:t>
            </a:r>
          </a:p>
        </p:txBody>
      </p:sp>
      <p:sp>
        <p:nvSpPr>
          <p:cNvPr id="6" name="Rounded Rectangle 5"/>
          <p:cNvSpPr/>
          <p:nvPr/>
        </p:nvSpPr>
        <p:spPr>
          <a:xfrm>
            <a:off x="731520" y="1554480"/>
            <a:ext cx="2029968" cy="3931920"/>
          </a:xfrm>
          <a:prstGeom prst="roundRect">
            <a:avLst/>
          </a:prstGeom>
          <a:solidFill>
            <a:srgbClr val="131F37"/>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spcAft>
                <a:spcPts val="100"/>
              </a:spcAft>
              <a:defRPr sz="1400" b="1">
                <a:solidFill>
                  <a:srgbClr val="10B981"/>
                </a:solidFill>
                <a:latin typeface="Segoe UI"/>
              </a:defRPr>
            </a:pPr>
            <a:r>
              <a:t>30%</a:t>
            </a:r>
          </a:p>
          <a:p>
            <a:pPr>
              <a:spcAft>
                <a:spcPts val="400"/>
              </a:spcAft>
              <a:defRPr sz="1150" b="1">
                <a:solidFill>
                  <a:srgbClr val="FFFFFF"/>
                </a:solidFill>
                <a:latin typeface="Segoe UI"/>
              </a:defRPr>
            </a:pPr>
            <a:r>
              <a:t>Technical Execution</a:t>
            </a:r>
          </a:p>
          <a:p>
            <a:pPr>
              <a:lnSpc>
                <a:spcPct val="115000"/>
              </a:lnSpc>
              <a:defRPr sz="900">
                <a:solidFill>
                  <a:srgbClr val="94A3B8"/>
                </a:solidFill>
                <a:latin typeface="Segoe UI"/>
              </a:defRPr>
            </a:pPr>
            <a:r>
              <a:t>- 117/117 automated tests passing.</a:t>
            </a:r>
            <a:br/>
            <a:r>
              <a:t>- Rowland &amp; Tozer PK model.</a:t>
            </a:r>
            <a:br/>
            <a:r>
              <a:t>- SQLite WAL multi-threading (0 locks).</a:t>
            </a:r>
            <a:br/>
            <a:r>
              <a:t>- Zero-cloud loopback network assertions.</a:t>
            </a:r>
          </a:p>
        </p:txBody>
      </p:sp>
      <p:sp>
        <p:nvSpPr>
          <p:cNvPr id="7" name="Rounded Rectangle 6"/>
          <p:cNvSpPr/>
          <p:nvPr/>
        </p:nvSpPr>
        <p:spPr>
          <a:xfrm>
            <a:off x="731520" y="1554480"/>
            <a:ext cx="2029968" cy="5486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905963" y="1554480"/>
            <a:ext cx="2029968" cy="3931920"/>
          </a:xfrm>
          <a:prstGeom prst="roundRect">
            <a:avLst/>
          </a:prstGeom>
          <a:solidFill>
            <a:srgbClr val="131F37"/>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spcAft>
                <a:spcPts val="100"/>
              </a:spcAft>
              <a:defRPr sz="1400" b="1">
                <a:solidFill>
                  <a:srgbClr val="06B6D4"/>
                </a:solidFill>
                <a:latin typeface="Segoe UI"/>
              </a:defRPr>
            </a:pPr>
            <a:r>
              <a:t>20%</a:t>
            </a:r>
          </a:p>
          <a:p>
            <a:pPr>
              <a:spcAft>
                <a:spcPts val="400"/>
              </a:spcAft>
              <a:defRPr sz="1150" b="1">
                <a:solidFill>
                  <a:srgbClr val="FFFFFF"/>
                </a:solidFill>
                <a:latin typeface="Segoe UI"/>
              </a:defRPr>
            </a:pPr>
            <a:r>
              <a:t>Innovation</a:t>
            </a:r>
          </a:p>
          <a:p>
            <a:pPr>
              <a:lnSpc>
                <a:spcPct val="115000"/>
              </a:lnSpc>
              <a:defRPr sz="900">
                <a:solidFill>
                  <a:srgbClr val="94A3B8"/>
                </a:solidFill>
                <a:latin typeface="Segoe UI"/>
              </a:defRPr>
            </a:pPr>
            <a:r>
              <a:t>- Deterministic SLM override.</a:t>
            </a:r>
            <a:br/>
            <a:r>
              <a:t>- Optical air-gap SVG QR data transfer.</a:t>
            </a:r>
            <a:br/>
            <a:r>
              <a:t>- Local SHA-256 Merkle audit ledger.</a:t>
            </a:r>
            <a:br/>
            <a:r>
              <a:t>- On-device RapidOCR extraction.</a:t>
            </a:r>
          </a:p>
        </p:txBody>
      </p:sp>
      <p:sp>
        <p:nvSpPr>
          <p:cNvPr id="9" name="Rounded Rectangle 8"/>
          <p:cNvSpPr/>
          <p:nvPr/>
        </p:nvSpPr>
        <p:spPr>
          <a:xfrm>
            <a:off x="2905963" y="1554480"/>
            <a:ext cx="2029968" cy="54864"/>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80406" y="1554480"/>
            <a:ext cx="2029968" cy="3931920"/>
          </a:xfrm>
          <a:prstGeom prst="roundRect">
            <a:avLst/>
          </a:prstGeom>
          <a:solidFill>
            <a:srgbClr val="131F37"/>
          </a:solidFill>
          <a:ln w="1524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spcAft>
                <a:spcPts val="100"/>
              </a:spcAft>
              <a:defRPr sz="1400" b="1">
                <a:solidFill>
                  <a:srgbClr val="14B8A6"/>
                </a:solidFill>
                <a:latin typeface="Segoe UI"/>
              </a:defRPr>
            </a:pPr>
            <a:r>
              <a:t>20%</a:t>
            </a:r>
          </a:p>
          <a:p>
            <a:pPr>
              <a:spcAft>
                <a:spcPts val="400"/>
              </a:spcAft>
              <a:defRPr sz="1150" b="1">
                <a:solidFill>
                  <a:srgbClr val="FFFFFF"/>
                </a:solidFill>
                <a:latin typeface="Segoe UI"/>
              </a:defRPr>
            </a:pPr>
            <a:r>
              <a:t>Clinical Impact</a:t>
            </a:r>
          </a:p>
          <a:p>
            <a:pPr>
              <a:lnSpc>
                <a:spcPct val="115000"/>
              </a:lnSpc>
              <a:defRPr sz="900">
                <a:solidFill>
                  <a:srgbClr val="94A3B8"/>
                </a:solidFill>
                <a:latin typeface="Segoe UI"/>
              </a:defRPr>
            </a:pPr>
            <a:r>
              <a:t>- Prevents fatal ADEs (Triple Whammy, QTc prolongation, Anaphylaxis).</a:t>
            </a:r>
            <a:br/>
            <a:r>
              <a:t>- Enables AI for hospitals legally barred from cloud.</a:t>
            </a:r>
            <a:br/>
            <a:r>
              <a:t>- 0 licensing fees for rural clinics.</a:t>
            </a:r>
          </a:p>
        </p:txBody>
      </p:sp>
      <p:sp>
        <p:nvSpPr>
          <p:cNvPr id="11" name="Rounded Rectangle 10"/>
          <p:cNvSpPr/>
          <p:nvPr/>
        </p:nvSpPr>
        <p:spPr>
          <a:xfrm>
            <a:off x="5080406" y="1554480"/>
            <a:ext cx="2029968" cy="54864"/>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254849" y="1554480"/>
            <a:ext cx="2029968" cy="3931920"/>
          </a:xfrm>
          <a:prstGeom prst="roundRect">
            <a:avLst/>
          </a:prstGeom>
          <a:solidFill>
            <a:srgbClr val="131F37"/>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spcAft>
                <a:spcPts val="100"/>
              </a:spcAft>
              <a:defRPr sz="1400" b="1">
                <a:solidFill>
                  <a:srgbClr val="F59E0B"/>
                </a:solidFill>
                <a:latin typeface="Segoe UI"/>
              </a:defRPr>
            </a:pPr>
            <a:r>
              <a:t>15%</a:t>
            </a:r>
          </a:p>
          <a:p>
            <a:pPr>
              <a:spcAft>
                <a:spcPts val="400"/>
              </a:spcAft>
              <a:defRPr sz="1150" b="1">
                <a:solidFill>
                  <a:srgbClr val="FFFFFF"/>
                </a:solidFill>
                <a:latin typeface="Segoe UI"/>
              </a:defRPr>
            </a:pPr>
            <a:r>
              <a:t>Product Experience</a:t>
            </a:r>
          </a:p>
          <a:p>
            <a:pPr>
              <a:lnSpc>
                <a:spcPct val="115000"/>
              </a:lnSpc>
              <a:defRPr sz="900">
                <a:solidFill>
                  <a:srgbClr val="94A3B8"/>
                </a:solidFill>
                <a:latin typeface="Segoe UI"/>
              </a:defRPr>
            </a:pPr>
            <a:r>
              <a:t>- Physician station with hotkeys (Ctrl+1..6).</a:t>
            </a:r>
            <a:br/>
            <a:r>
              <a:t>- Plain-English Patient Portal for lab translation.</a:t>
            </a:r>
            <a:br/>
            <a:r>
              <a:t>- Printable hospital certificate with QR.</a:t>
            </a:r>
          </a:p>
        </p:txBody>
      </p:sp>
      <p:sp>
        <p:nvSpPr>
          <p:cNvPr id="13" name="Rounded Rectangle 12"/>
          <p:cNvSpPr/>
          <p:nvPr/>
        </p:nvSpPr>
        <p:spPr>
          <a:xfrm>
            <a:off x="7254849" y="1554480"/>
            <a:ext cx="2029968" cy="54864"/>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429292" y="1554480"/>
            <a:ext cx="2029968" cy="3931920"/>
          </a:xfrm>
          <a:prstGeom prst="roundRect">
            <a:avLst/>
          </a:prstGeom>
          <a:solidFill>
            <a:srgbClr val="131F37"/>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spcAft>
                <a:spcPts val="100"/>
              </a:spcAft>
              <a:defRPr sz="1400" b="1">
                <a:solidFill>
                  <a:srgbClr val="A855F7"/>
                </a:solidFill>
                <a:latin typeface="Segoe UI"/>
              </a:defRPr>
            </a:pPr>
            <a:r>
              <a:t>15%</a:t>
            </a:r>
          </a:p>
          <a:p>
            <a:pPr>
              <a:spcAft>
                <a:spcPts val="400"/>
              </a:spcAft>
              <a:defRPr sz="1150" b="1">
                <a:solidFill>
                  <a:srgbClr val="FFFFFF"/>
                </a:solidFill>
                <a:latin typeface="Segoe UI"/>
              </a:defRPr>
            </a:pPr>
            <a:r>
              <a:t>Completeness</a:t>
            </a:r>
          </a:p>
          <a:p>
            <a:pPr>
              <a:lnSpc>
                <a:spcPct val="115000"/>
              </a:lnSpc>
              <a:defRPr sz="900">
                <a:solidFill>
                  <a:srgbClr val="94A3B8"/>
                </a:solidFill>
                <a:latin typeface="Segoe UI"/>
              </a:defRPr>
            </a:pPr>
            <a:r>
              <a:t>- 1-click run_demo.bat launcher.</a:t>
            </a:r>
            <a:br/>
            <a:r>
              <a:t>- Interactive Judge Demo Crisis Suite (Ctrl+6).</a:t>
            </a:r>
            <a:br/>
            <a:r>
              <a:t>- Comprehensive documentation &amp; QA test suites.</a:t>
            </a:r>
          </a:p>
        </p:txBody>
      </p:sp>
      <p:sp>
        <p:nvSpPr>
          <p:cNvPr id="15" name="Rounded Rectangle 14"/>
          <p:cNvSpPr/>
          <p:nvPr/>
        </p:nvSpPr>
        <p:spPr>
          <a:xfrm>
            <a:off x="9429292" y="1554480"/>
            <a:ext cx="2029968" cy="54864"/>
          </a:xfrm>
          <a:prstGeom prst="round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1520" y="5623560"/>
            <a:ext cx="10728655" cy="777240"/>
          </a:xfrm>
          <a:prstGeom prst="roundRect">
            <a:avLst/>
          </a:prstGeom>
          <a:solidFill>
            <a:srgbClr val="05080E"/>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defRPr sz="950">
                <a:solidFill>
                  <a:srgbClr val="06B6D4"/>
                </a:solidFill>
                <a:latin typeface="Segoe UI"/>
              </a:defRPr>
            </a:pPr>
            <a:r>
              <a:t>VERIFICATION SUITE: python -m unittest discover -s tests -p '*.py'</a:t>
            </a:r>
          </a:p>
          <a:p>
            <a:pPr>
              <a:defRPr sz="1050" b="1">
                <a:solidFill>
                  <a:srgbClr val="10B981"/>
                </a:solidFill>
                <a:latin typeface="Segoe UI"/>
              </a:defRPr>
            </a:pPr>
            <a:r>
              <a:t>Ran 117 tests across 17 clinical modules | 117 PASSED, 0 FAILED | Zero Cloud Egress Verified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840480" cy="256032"/>
          </a:xfrm>
          <a:prstGeom prst="roundRect">
            <a:avLst/>
          </a:prstGeom>
          <a:solidFill>
            <a:srgbClr val="0F1C30"/>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lIns="109728" tIns="0" bIns="0" rIns="0"/>
          <a:lstStyle/>
          <a:p>
            <a:pPr algn="ctr">
              <a:defRPr sz="950" b="1">
                <a:solidFill>
                  <a:srgbClr val="14B8A6"/>
                </a:solidFill>
                <a:latin typeface="Segoe UI"/>
              </a:defRPr>
            </a:pPr>
            <a:r>
              <a:t>FUTURE VISION &amp; PITCH FINALE</a:t>
            </a:r>
          </a:p>
        </p:txBody>
      </p:sp>
      <p:sp>
        <p:nvSpPr>
          <p:cNvPr id="4" name="TextBox 3"/>
          <p:cNvSpPr txBox="1"/>
          <p:nvPr/>
        </p:nvSpPr>
        <p:spPr>
          <a:xfrm>
            <a:off x="731520" y="658368"/>
            <a:ext cx="10698480" cy="502920"/>
          </a:xfrm>
          <a:prstGeom prst="rect">
            <a:avLst/>
          </a:prstGeom>
          <a:noFill/>
        </p:spPr>
        <p:txBody>
          <a:bodyPr wrap="square" lIns="0" tIns="0" rIns="0" bIns="0">
            <a:spAutoFit/>
          </a:bodyPr>
          <a:lstStyle/>
          <a:p>
            <a:pPr>
              <a:defRPr sz="2200" b="1">
                <a:solidFill>
                  <a:srgbClr val="FFFFFF"/>
                </a:solidFill>
                <a:latin typeface="Segoe UI"/>
              </a:defRPr>
            </a:pPr>
            <a:r>
              <a:t>True Sovereignty is Clinical Reliability: Roadmap &amp; Team Division</a:t>
            </a:r>
          </a:p>
        </p:txBody>
      </p:sp>
      <p:sp>
        <p:nvSpPr>
          <p:cNvPr id="5" name="TextBox 4"/>
          <p:cNvSpPr txBox="1"/>
          <p:nvPr/>
        </p:nvSpPr>
        <p:spPr>
          <a:xfrm>
            <a:off x="731520" y="1170432"/>
            <a:ext cx="10698480" cy="292608"/>
          </a:xfrm>
          <a:prstGeom prst="rect">
            <a:avLst/>
          </a:prstGeom>
          <a:noFill/>
        </p:spPr>
        <p:txBody>
          <a:bodyPr wrap="square" lIns="0" tIns="0" rIns="0" bIns="0">
            <a:spAutoFit/>
          </a:bodyPr>
          <a:lstStyle/>
          <a:p>
            <a:pPr>
              <a:defRPr sz="1100">
                <a:solidFill>
                  <a:srgbClr val="06B6D4"/>
                </a:solidFill>
                <a:latin typeface="Segoe UI"/>
              </a:defRPr>
            </a:pPr>
            <a:r>
              <a:t>Engineered for real-world clinic adoption and offline deployment</a:t>
            </a:r>
          </a:p>
        </p:txBody>
      </p:sp>
      <p:sp>
        <p:nvSpPr>
          <p:cNvPr id="6" name="Rounded Rectangle 5"/>
          <p:cNvSpPr/>
          <p:nvPr/>
        </p:nvSpPr>
        <p:spPr>
          <a:xfrm>
            <a:off x="731520" y="1554480"/>
            <a:ext cx="5175504" cy="3931920"/>
          </a:xfrm>
          <a:prstGeom prst="roundRect">
            <a:avLst/>
          </a:prstGeom>
          <a:solidFill>
            <a:srgbClr val="131F37"/>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spcAft>
                <a:spcPts val="400"/>
              </a:spcAft>
              <a:defRPr sz="1150" b="1">
                <a:solidFill>
                  <a:srgbClr val="14B8A6"/>
                </a:solidFill>
                <a:latin typeface="Segoe UI"/>
              </a:defRPr>
            </a:pPr>
            <a:r>
              <a:t>TEAM VOID_CODERS DIVISION OF LABOR</a:t>
            </a:r>
          </a:p>
          <a:p>
            <a:pPr>
              <a:spcAft>
                <a:spcPts val="100"/>
              </a:spcAft>
              <a:defRPr sz="1000" b="1">
                <a:solidFill>
                  <a:srgbClr val="14B8A6"/>
                </a:solidFill>
                <a:latin typeface="Segoe UI"/>
              </a:defRPr>
            </a:pPr>
            <a:r>
              <a:t>Person A (Lead): Rishikgowda SM</a:t>
            </a:r>
          </a:p>
          <a:p>
            <a:pPr>
              <a:lnSpc>
                <a:spcPct val="115000"/>
              </a:lnSpc>
              <a:spcAft>
                <a:spcPts val="300"/>
              </a:spcAft>
              <a:defRPr sz="900">
                <a:solidFill>
                  <a:srgbClr val="94A3B8"/>
                </a:solidFill>
                <a:latin typeface="Segoe UI"/>
              </a:defRPr>
            </a:pPr>
            <a:r>
              <a:t>FastAPI architecture, SQLite WAL concurrency, thread-safe SHA-256 Merkle audit logger, repo orchestration.</a:t>
            </a:r>
          </a:p>
          <a:p>
            <a:pPr>
              <a:spcAft>
                <a:spcPts val="100"/>
              </a:spcAft>
              <a:defRPr sz="1000" b="1">
                <a:solidFill>
                  <a:srgbClr val="10B981"/>
                </a:solidFill>
                <a:latin typeface="Segoe UI"/>
              </a:defRPr>
            </a:pPr>
            <a:r>
              <a:t>Person B: Rakshith DA</a:t>
            </a:r>
          </a:p>
          <a:p>
            <a:pPr>
              <a:lnSpc>
                <a:spcPct val="115000"/>
              </a:lnSpc>
              <a:spcAft>
                <a:spcPts val="300"/>
              </a:spcAft>
              <a:defRPr sz="900">
                <a:solidFill>
                  <a:srgbClr val="94A3B8"/>
                </a:solidFill>
                <a:latin typeface="Segoe UI"/>
              </a:defRPr>
            </a:pPr>
            <a:r>
              <a:t>Data ingestion pipeline, PyMuPDF extraction, 18 HIPAA Safe Harbor PHI redactions, RapidOCR on-device parser.</a:t>
            </a:r>
          </a:p>
          <a:p>
            <a:pPr>
              <a:spcAft>
                <a:spcPts val="100"/>
              </a:spcAft>
              <a:defRPr sz="1000" b="1">
                <a:solidFill>
                  <a:srgbClr val="06B6D4"/>
                </a:solidFill>
                <a:latin typeface="Segoe UI"/>
              </a:defRPr>
            </a:pPr>
            <a:r>
              <a:t>Person C: Kushal M</a:t>
            </a:r>
          </a:p>
          <a:p>
            <a:pPr>
              <a:lnSpc>
                <a:spcPct val="115000"/>
              </a:lnSpc>
              <a:spcAft>
                <a:spcPts val="300"/>
              </a:spcAft>
              <a:defRPr sz="900">
                <a:solidFill>
                  <a:srgbClr val="94A3B8"/>
                </a:solidFill>
                <a:latin typeface="Segoe UI"/>
              </a:defRPr>
            </a:pPr>
            <a:r>
              <a:t>Deterministic pharmacology knowledge engine, Rowland &amp; Tozer PK simulator, Beers 2023 criteria, Ollama SLM bridge.</a:t>
            </a:r>
          </a:p>
          <a:p>
            <a:pPr>
              <a:spcAft>
                <a:spcPts val="100"/>
              </a:spcAft>
              <a:defRPr sz="1000" b="1">
                <a:solidFill>
                  <a:srgbClr val="F59E0B"/>
                </a:solidFill>
                <a:latin typeface="Segoe UI"/>
              </a:defRPr>
            </a:pPr>
            <a:r>
              <a:t>Person D: Sujan MB</a:t>
            </a:r>
          </a:p>
          <a:p>
            <a:pPr>
              <a:lnSpc>
                <a:spcPct val="115000"/>
              </a:lnSpc>
              <a:spcAft>
                <a:spcPts val="300"/>
              </a:spcAft>
              <a:defRPr sz="900">
                <a:solidFill>
                  <a:srgbClr val="94A3B8"/>
                </a:solidFill>
                <a:latin typeface="Segoe UI"/>
              </a:defRPr>
            </a:pPr>
            <a:r>
              <a:t>Physician workstation UI, patient portal, Judge Demo Crisis Suite, accessibility, QA checklists, &amp; pitch demo.</a:t>
            </a:r>
          </a:p>
        </p:txBody>
      </p:sp>
      <p:sp>
        <p:nvSpPr>
          <p:cNvPr id="7" name="Rounded Rectangle 6"/>
          <p:cNvSpPr/>
          <p:nvPr/>
        </p:nvSpPr>
        <p:spPr>
          <a:xfrm>
            <a:off x="731520" y="1554480"/>
            <a:ext cx="5175504" cy="54864"/>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72784" y="1554480"/>
            <a:ext cx="5175504" cy="3931920"/>
          </a:xfrm>
          <a:prstGeom prst="roundRect">
            <a:avLst/>
          </a:prstGeom>
          <a:solidFill>
            <a:srgbClr val="131F37"/>
          </a:solidFill>
          <a:ln w="1524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spcAft>
                <a:spcPts val="400"/>
              </a:spcAft>
              <a:defRPr sz="1150" b="1">
                <a:solidFill>
                  <a:srgbClr val="06B6D4"/>
                </a:solidFill>
                <a:latin typeface="Segoe UI"/>
              </a:defRPr>
            </a:pPr>
            <a:r>
              <a:t>POST-HACKATHON PRODUCTION ROADMAP</a:t>
            </a:r>
          </a:p>
          <a:p>
            <a:pPr>
              <a:spcAft>
                <a:spcPts val="100"/>
              </a:spcAft>
              <a:defRPr sz="1050" b="1">
                <a:solidFill>
                  <a:srgbClr val="FFFFFF"/>
                </a:solidFill>
                <a:latin typeface="Segoe UI"/>
              </a:defRPr>
            </a:pPr>
            <a:r>
              <a:t>1. On-Premises Hospital EHR Connectors</a:t>
            </a:r>
          </a:p>
          <a:p>
            <a:pPr>
              <a:lnSpc>
                <a:spcPct val="115000"/>
              </a:lnSpc>
              <a:spcAft>
                <a:spcPts val="300"/>
              </a:spcAft>
              <a:defRPr sz="950">
                <a:solidFill>
                  <a:srgbClr val="94A3B8"/>
                </a:solidFill>
                <a:latin typeface="Segoe UI"/>
              </a:defRPr>
            </a:pPr>
            <a:r>
              <a:t>Direct HL7 v2 and FHIR subscription adapters for Cerner, Epic, and open-source OpenMRS without external network egress.</a:t>
            </a:r>
          </a:p>
          <a:p>
            <a:pPr>
              <a:spcAft>
                <a:spcPts val="100"/>
              </a:spcAft>
              <a:defRPr sz="1050" b="1">
                <a:solidFill>
                  <a:srgbClr val="FFFFFF"/>
                </a:solidFill>
                <a:latin typeface="Segoe UI"/>
              </a:defRPr>
            </a:pPr>
            <a:r>
              <a:t>2. Pharmacogenomics (PGx) Integration</a:t>
            </a:r>
          </a:p>
          <a:p>
            <a:pPr>
              <a:lnSpc>
                <a:spcPct val="115000"/>
              </a:lnSpc>
              <a:spcAft>
                <a:spcPts val="300"/>
              </a:spcAft>
              <a:defRPr sz="950">
                <a:solidFill>
                  <a:srgbClr val="94A3B8"/>
                </a:solidFill>
                <a:latin typeface="Segoe UI"/>
              </a:defRPr>
            </a:pPr>
            <a:r>
              <a:t>Cross-referencing patient CYP2D6 and CYP2C19 gene metabolizer types to prevent personalized toxicities.</a:t>
            </a:r>
          </a:p>
          <a:p>
            <a:pPr>
              <a:spcAft>
                <a:spcPts val="100"/>
              </a:spcAft>
              <a:defRPr sz="1050" b="1">
                <a:solidFill>
                  <a:srgbClr val="FFFFFF"/>
                </a:solidFill>
                <a:latin typeface="Segoe UI"/>
              </a:defRPr>
            </a:pPr>
            <a:r>
              <a:t>3. Edge Hardware Triage Appliance</a:t>
            </a:r>
          </a:p>
          <a:p>
            <a:pPr>
              <a:lnSpc>
                <a:spcPct val="115000"/>
              </a:lnSpc>
              <a:spcAft>
                <a:spcPts val="300"/>
              </a:spcAft>
              <a:defRPr sz="950">
                <a:solidFill>
                  <a:srgbClr val="94A3B8"/>
                </a:solidFill>
                <a:latin typeface="Segoe UI"/>
              </a:defRPr>
            </a:pPr>
            <a:r>
              <a:t>Packaging MediVault Local onto ruggedized Raspberry Pi 5 / NVIDIA Jetson devices for field military triage and rural clinics.</a:t>
            </a:r>
          </a:p>
        </p:txBody>
      </p:sp>
      <p:sp>
        <p:nvSpPr>
          <p:cNvPr id="9" name="Rounded Rectangle 8"/>
          <p:cNvSpPr/>
          <p:nvPr/>
        </p:nvSpPr>
        <p:spPr>
          <a:xfrm>
            <a:off x="6272784" y="1554480"/>
            <a:ext cx="5175504" cy="54864"/>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5623560"/>
            <a:ext cx="10728655" cy="777240"/>
          </a:xfrm>
          <a:prstGeom prst="roundRect">
            <a:avLst/>
          </a:prstGeom>
          <a:solidFill>
            <a:srgbClr val="0A1914"/>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defRPr sz="1200" b="1">
                <a:solidFill>
                  <a:srgbClr val="10B981"/>
                </a:solidFill>
                <a:latin typeface="Segoe UI"/>
              </a:defRPr>
            </a:pPr>
            <a:r>
              <a:t>"NO CLOUD. NO HALLUCINATIONS. NO DATA LEAKS."</a:t>
            </a:r>
          </a:p>
          <a:p>
            <a:pPr algn="ctr">
              <a:defRPr sz="1000">
                <a:solidFill>
                  <a:srgbClr val="FFFFFF"/>
                </a:solidFill>
                <a:latin typeface="Segoe UI"/>
              </a:defRPr>
            </a:pPr>
            <a:r>
              <a:t>True Sovereign AI isn't just about privacy-it's about saving patient lives when the world is completely offline.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