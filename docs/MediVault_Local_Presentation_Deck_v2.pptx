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6217920" cy="5303520"/>
          </a:xfrm>
          <a:prstGeom prst="rect">
            <a:avLst/>
          </a:prstGeom>
          <a:noFill/>
        </p:spPr>
        <p:txBody>
          <a:bodyPr wrap="square" anchor="t" tIns="0" lIns="0">
            <a:spAutoFit/>
          </a:bodyPr>
          <a:lstStyle/>
          <a:p>
            <a:pPr>
              <a:defRPr sz="1150" b="1">
                <a:solidFill>
                  <a:srgbClr val="10B981"/>
                </a:solidFill>
                <a:latin typeface="Segoe UI"/>
              </a:defRPr>
            </a:pPr>
            <a:r>
              <a:t>ASYNC'26 HACKATHON • TRACK 1: SOVEREIGN AI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t>MediVault Local</a:t>
            </a:r>
          </a:p>
          <a:p>
            <a:pPr>
              <a:spcAft>
                <a:spcPts val="1400"/>
              </a:spcAft>
              <a:defRPr sz="1700" b="1">
                <a:solidFill>
                  <a:srgbClr val="06B6D4"/>
                </a:solidFill>
                <a:latin typeface="Segoe UI"/>
              </a:defRPr>
            </a:pPr>
            <a:r>
              <a:t>Zero-Cloud, Zero-Hallucination Clinical Contraindication Reviewer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200">
                <a:solidFill>
                  <a:srgbClr val="9CAFC9"/>
                </a:solidFill>
                <a:latin typeface="Segoe UI"/>
              </a:defRPr>
            </a:pPr>
            <a:r>
              <a:t>Hospitals are legally barred under HIPAA and the India DPDP Act from transmitting confidential patient records to cloud LLMs. Yet cognitive overload causes dangerous prescription contraindications to slip through daily.</a:t>
            </a:r>
          </a:p>
          <a:p>
            <a:pPr>
              <a:lnSpc>
                <a:spcPct val="120000"/>
              </a:lnSpc>
              <a:spcAft>
                <a:spcPts val="1800"/>
              </a:spcAft>
              <a:defRPr sz="1200">
                <a:solidFill>
                  <a:srgbClr val="9CAFC9"/>
                </a:solidFill>
                <a:latin typeface="Segoe UI"/>
              </a:defRPr>
            </a:pPr>
            <a:r>
              <a:t>MediVault Local executes 100% on the doctor's workstation: zero cloud egress (127.0.0.1 loopback only), deterministic pharmacology safety rules, local SLM clinical reasoning, and cryptographic SHA-256 Merkle audit proofs.</a:t>
            </a:r>
          </a:p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Team: Void_coders (Rishikgowda SM, Rakshith DA, Kushal M, Sujan MB)</a:t>
            </a:r>
          </a:p>
        </p:txBody>
      </p:sp>
      <p:pic>
        <p:nvPicPr>
          <p:cNvPr id="4" name="Picture 3" descr="sovereign_clinical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822960"/>
            <a:ext cx="4297680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3611880"/>
            <a:ext cx="4297680" cy="2423160"/>
          </a:xfrm>
          <a:prstGeom prst="roundRect">
            <a:avLst/>
          </a:prstGeom>
          <a:solidFill>
            <a:srgbClr val="111C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spcAft>
                <a:spcPts val="600"/>
              </a:spcAft>
              <a:defRPr sz="1150" b="1">
                <a:solidFill>
                  <a:srgbClr val="10B981"/>
                </a:solidFill>
                <a:latin typeface="Segoe UI"/>
              </a:defRPr>
            </a:pPr>
            <a:r>
              <a:t>SOVEREIGN CLINICAL VERIFICATION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  <a:latin typeface="Segoe UI"/>
              </a:defRPr>
            </a:pPr>
            <a:r>
              <a:t>• Zero Cloud Egress: Strict loopback (127.0.0.1); 0 bytes outbound transmitted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  <a:latin typeface="Segoe UI"/>
              </a:defRPr>
            </a:pPr>
            <a:r>
              <a:t>• Deterministic Gate: SQLite pharmacology matrix overrides local SLM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  <a:latin typeface="Segoe UI"/>
              </a:defRPr>
            </a:pPr>
            <a:r>
              <a:t>• Cryptographic Ledger: SHA-256 Merkle tree proves HIPAA § 164.312(b) compliance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  <a:latin typeface="Segoe UI"/>
              </a:defRPr>
            </a:pPr>
            <a:r>
              <a:t>• 100% Test Coverage: 117 / 117 automated clinical tests passing across 17 modules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PROBLEM STATEMENT &amp; REAL-WORLD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The Hospital Trilemma: Regulatory Bans, Fatal ADEs &amp; Cloud Hallucinations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10712" cy="3931920"/>
          </a:xfrm>
          <a:prstGeom prst="roundRect">
            <a:avLst/>
          </a:prstGeom>
          <a:solidFill>
            <a:srgbClr val="111C35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F43F5E"/>
                </a:solidFill>
                <a:latin typeface="Segoe UI"/>
              </a:defRPr>
            </a:pPr>
            <a:r>
              <a:t>01 / REGULATORY BAN</a:t>
            </a:r>
          </a:p>
          <a:p>
            <a:pPr>
              <a:spcAft>
                <a:spcPts val="800"/>
              </a:spcAft>
              <a:defRPr sz="1350" b="1">
                <a:solidFill>
                  <a:srgbClr val="FFFFFF"/>
                </a:solidFill>
                <a:latin typeface="Segoe UI"/>
              </a:defRPr>
            </a:pPr>
            <a:r>
              <a:t>Cloud AI is Legally Barred in Wards</a:t>
            </a:r>
          </a:p>
          <a:p>
            <a:pPr>
              <a:lnSpc>
                <a:spcPct val="120000"/>
              </a:lnSpc>
              <a:defRPr sz="1050">
                <a:solidFill>
                  <a:srgbClr val="9CAFC9"/>
                </a:solidFill>
                <a:latin typeface="Segoe UI"/>
              </a:defRPr>
            </a:pPr>
            <a:r>
              <a:t>Hospitals cannot transmit PHI to external cloud LLMs without severe violations under HIPAA Safe Harbor § 164.514 and India's DPDP Act 2023. Penalties reach up to ₹250 Cr ($30M).</a:t>
            </a:r>
            <a:br/>
            <a:br/>
            <a:r>
              <a:t>Consequence: Doctors are stranded with manual chart reviews and zero AI safety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410712" cy="3931920"/>
          </a:xfrm>
          <a:prstGeom prst="roundRect">
            <a:avLst/>
          </a:prstGeom>
          <a:solidFill>
            <a:srgbClr val="111C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02 / CLINICAL MORTALITY</a:t>
            </a:r>
          </a:p>
          <a:p>
            <a:pPr>
              <a:spcAft>
                <a:spcPts val="800"/>
              </a:spcAft>
              <a:defRPr sz="1350" b="1">
                <a:solidFill>
                  <a:srgbClr val="FFFFFF"/>
                </a:solidFill>
                <a:latin typeface="Segoe UI"/>
              </a:defRPr>
            </a:pPr>
            <a:r>
              <a:t>43% of Polypharmacy Patients at Risk</a:t>
            </a:r>
          </a:p>
          <a:p>
            <a:pPr>
              <a:lnSpc>
                <a:spcPct val="120000"/>
              </a:lnSpc>
              <a:defRPr sz="1050">
                <a:solidFill>
                  <a:srgbClr val="9CAFC9"/>
                </a:solidFill>
                <a:latin typeface="Segoe UI"/>
              </a:defRPr>
            </a:pPr>
            <a:r>
              <a:t>Adverse Drug Events (ADEs) are a top-5 cause of death globally. Multi-morbid patients taking 5+ prescriptions experience acute organ failure when contraindicated drugs slip through.</a:t>
            </a:r>
            <a:br/>
            <a:br/>
            <a:r>
              <a:t>E.g., The lethal 'Triple Whammy' (ACEi + Diuretic + NSAID) triggers catastrophic acute kidney collapse.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17320"/>
            <a:ext cx="3410712" cy="3931920"/>
          </a:xfrm>
          <a:prstGeom prst="roundRect">
            <a:avLst/>
          </a:prstGeom>
          <a:solidFill>
            <a:srgbClr val="111C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spcAft>
                <a:spcPts val="400"/>
              </a:spcAft>
              <a:defRPr sz="1000" b="1">
                <a:solidFill>
                  <a:srgbClr val="06B6D4"/>
                </a:solidFill>
                <a:latin typeface="Segoe UI"/>
              </a:defRPr>
            </a:pPr>
            <a:r>
              <a:t>03 / HALLUCINATION HAZARD</a:t>
            </a:r>
          </a:p>
          <a:p>
            <a:pPr>
              <a:spcAft>
                <a:spcPts val="800"/>
              </a:spcAft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Stochastic LLMs Threaten Patient Lives</a:t>
            </a:r>
          </a:p>
          <a:p>
            <a:pPr>
              <a:lnSpc>
                <a:spcPct val="120000"/>
              </a:lnSpc>
              <a:defRPr sz="1050">
                <a:solidFill>
                  <a:srgbClr val="9CAFC9"/>
                </a:solidFill>
                <a:latin typeface="Segoe UI"/>
              </a:defRPr>
            </a:pPr>
            <a:r>
              <a:t>Pure cloud LLMs hallucinate dosages, miss renal eGFR cutoffs, and produce probabilistic clearance advice. In life-critical medicine, black-box text models cannot be trusted without rigid safety gates.</a:t>
            </a:r>
            <a:br/>
            <a:br/>
            <a:r>
              <a:t>MediVault Local solves this with deterministic rule overrides.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32120"/>
            <a:ext cx="10725912" cy="868680"/>
          </a:xfrm>
          <a:prstGeom prst="roundRect">
            <a:avLst/>
          </a:prstGeom>
          <a:solidFill>
            <a:srgbClr val="180C14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defRPr sz="1050" b="1">
                <a:solidFill>
                  <a:srgbClr val="F43F5E"/>
                </a:solidFill>
                <a:latin typeface="Segoe UI"/>
              </a:defRPr>
            </a:pPr>
            <a:r>
              <a:t>CLINICAL FOCUS CASE: ACUTE RENAL SHUTDOWN (STAGE 3 CKD + ADVIL / IBUPROFEN)</a:t>
            </a:r>
          </a:p>
          <a:p>
            <a:pPr>
              <a:spcBef>
                <a:spcPts val="200"/>
              </a:spcBef>
              <a:defRPr sz="1000">
                <a:solidFill>
                  <a:srgbClr val="FFFFFF"/>
                </a:solidFill>
                <a:latin typeface="Segoe UI"/>
              </a:defRPr>
            </a:pPr>
            <a:r>
              <a:t>When an NSAID is administered to a CKD patient, afferent arteriolar vasodilation is blocked. Glomerular filtration pressure collapses immediately (eGFR plunges from 42 to &lt; 15 mL/min), causing irreversible dialysis dependence.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Segoe UI"/>
              </a:defRPr>
            </a:pPr>
            <a:r>
              <a:t>TECHNICAL EXECUTION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The 6-Stage Zero-Cloud Sovereign Pipeline (127.0.0.1)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10712" cy="178308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defRPr sz="950" b="1">
                <a:solidFill>
                  <a:srgbClr val="14B8A6"/>
                </a:solidFill>
                <a:latin typeface="Segoe UI"/>
              </a:defRPr>
            </a:pPr>
            <a:r>
              <a:t>STAGE 1 • INGESTION &amp; OCR</a:t>
            </a:r>
          </a:p>
          <a:p>
            <a:pPr>
              <a:spcBef>
                <a:spcPts val="200"/>
              </a:spcBef>
              <a:defRPr sz="1150" b="1">
                <a:solidFill>
                  <a:srgbClr val="FFFFFF"/>
                </a:solidFill>
                <a:latin typeface="Segoe UI"/>
              </a:defRPr>
            </a:pPr>
            <a:r>
              <a:t>PyMuPDF &amp; On-Device RapidOCR</a:t>
            </a:r>
          </a:p>
          <a:p>
            <a:pPr>
              <a:spcBef>
                <a:spcPts val="3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Extracts clinical notes and medication orders from scanned prescription paper slips &amp; PDFs entirely in RAM.</a:t>
            </a:r>
          </a:p>
          <a:p>
            <a:pPr>
              <a:spcBef>
                <a:spcPts val="300"/>
              </a:spcBef>
              <a:defRPr sz="900" b="1">
                <a:solidFill>
                  <a:srgbClr val="34D399"/>
                </a:solidFill>
                <a:latin typeface="Segoe UI"/>
              </a:defRPr>
            </a:pPr>
            <a:r>
              <a:t>Owner: Person B: Rakshith 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410712" cy="178308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STAGE 2 • 18 PHI REDACTION</a:t>
            </a:r>
          </a:p>
          <a:p>
            <a:pPr>
              <a:spcBef>
                <a:spcPts val="200"/>
              </a:spcBef>
              <a:defRPr sz="1150" b="1">
                <a:solidFill>
                  <a:srgbClr val="FFFFFF"/>
                </a:solidFill>
                <a:latin typeface="Segoe UI"/>
              </a:defRPr>
            </a:pPr>
            <a:r>
              <a:t>HIPAA Safe Harbor De-identification</a:t>
            </a:r>
          </a:p>
          <a:p>
            <a:pPr>
              <a:spcBef>
                <a:spcPts val="3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Strips all 18 HIPAA Safe Harbor direct identifiers (SSN, MRN, phone, address). Generates cryptographic ANON_ token.</a:t>
            </a:r>
          </a:p>
          <a:p>
            <a:pPr>
              <a:spcBef>
                <a:spcPts val="300"/>
              </a:spcBef>
              <a:defRPr sz="900" b="1">
                <a:solidFill>
                  <a:srgbClr val="34D399"/>
                </a:solidFill>
                <a:latin typeface="Segoe UI"/>
              </a:defRPr>
            </a:pPr>
            <a:r>
              <a:t>Owner: Person B: Rakshith 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17320"/>
            <a:ext cx="3410712" cy="178308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STAGE 3 • BRAND &amp; ENTITY NORMALIZATION</a:t>
            </a:r>
          </a:p>
          <a:p>
            <a:pPr>
              <a:spcBef>
                <a:spcPts val="200"/>
              </a:spcBef>
              <a:defRPr sz="1150" b="1">
                <a:solidFill>
                  <a:srgbClr val="FFFFFF"/>
                </a:solidFill>
                <a:latin typeface="Segoe UI"/>
              </a:defRPr>
            </a:pPr>
            <a:r>
              <a:t>Lexical Standardization Engine</a:t>
            </a:r>
          </a:p>
          <a:p>
            <a:pPr>
              <a:spcBef>
                <a:spcPts val="3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Normalizes trade brand names to generic pharmaceutical entities (Advil ➔ Ibuprofen). Multi-drug bundle parsing.</a:t>
            </a:r>
          </a:p>
          <a:p>
            <a:pPr>
              <a:spcBef>
                <a:spcPts val="300"/>
              </a:spcBef>
              <a:defRPr sz="900" b="1">
                <a:solidFill>
                  <a:srgbClr val="34D399"/>
                </a:solidFill>
                <a:latin typeface="Segoe UI"/>
              </a:defRPr>
            </a:pPr>
            <a:r>
              <a:t>Owner: Person C: Kushal 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3410712" cy="178308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defRPr sz="950" b="1">
                <a:solidFill>
                  <a:srgbClr val="F59E0B"/>
                </a:solidFill>
                <a:latin typeface="Segoe UI"/>
              </a:defRPr>
            </a:pPr>
            <a:r>
              <a:t>STAGE 4 • DETERMINISTIC KNOWLEDGE BASE</a:t>
            </a:r>
          </a:p>
          <a:p>
            <a:pPr>
              <a:spcBef>
                <a:spcPts val="200"/>
              </a:spcBef>
              <a:defRPr sz="1150" b="1">
                <a:solidFill>
                  <a:srgbClr val="FFFFFF"/>
                </a:solidFill>
                <a:latin typeface="Segoe UI"/>
              </a:defRPr>
            </a:pPr>
            <a:r>
              <a:t>SQLite Pharmacology Rule Matrices</a:t>
            </a:r>
          </a:p>
          <a:p>
            <a:pPr>
              <a:spcBef>
                <a:spcPts val="3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Deterministic cross-check: Cockcroft-Gault CrCl, Beers 2023 geriatric criteria, quantitative lab cutoffs, polypharmacy.</a:t>
            </a:r>
          </a:p>
          <a:p>
            <a:pPr>
              <a:spcBef>
                <a:spcPts val="300"/>
              </a:spcBef>
              <a:defRPr sz="900" b="1">
                <a:solidFill>
                  <a:srgbClr val="34D399"/>
                </a:solidFill>
                <a:latin typeface="Segoe UI"/>
              </a:defRPr>
            </a:pPr>
            <a:r>
              <a:t>Owner: Person C: Kushal 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383280"/>
            <a:ext cx="3410712" cy="178308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defRPr sz="950" b="1">
                <a:solidFill>
                  <a:srgbClr val="A855F7"/>
                </a:solidFill>
                <a:latin typeface="Segoe UI"/>
              </a:defRPr>
            </a:pPr>
            <a:r>
              <a:t>STAGE 5 • PK MODEL &amp; LOCAL SLM</a:t>
            </a:r>
          </a:p>
          <a:p>
            <a:pPr>
              <a:spcBef>
                <a:spcPts val="200"/>
              </a:spcBef>
              <a:defRPr sz="1150" b="1">
                <a:solidFill>
                  <a:srgbClr val="FFFFFF"/>
                </a:solidFill>
                <a:latin typeface="Segoe UI"/>
              </a:defRPr>
            </a:pPr>
            <a:r>
              <a:t>Rowland &amp; Tozer Dynamics + Ollama</a:t>
            </a:r>
          </a:p>
          <a:p>
            <a:pPr>
              <a:spcBef>
                <a:spcPts val="3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Simulates 72h plasma accumulation curves and toxic ceilings. Local Ollama (llama3.2:3b) synthesizes clinical rationale.</a:t>
            </a:r>
          </a:p>
          <a:p>
            <a:pPr>
              <a:spcBef>
                <a:spcPts val="300"/>
              </a:spcBef>
              <a:defRPr sz="900" b="1">
                <a:solidFill>
                  <a:srgbClr val="34D399"/>
                </a:solidFill>
                <a:latin typeface="Segoe UI"/>
              </a:defRPr>
            </a:pPr>
            <a:r>
              <a:t>Owner: Person C: Kushal 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383280"/>
            <a:ext cx="3410712" cy="178308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defRPr sz="950" b="1">
                <a:solidFill>
                  <a:srgbClr val="F43F5E"/>
                </a:solidFill>
                <a:latin typeface="Segoe UI"/>
              </a:defRPr>
            </a:pPr>
            <a:r>
              <a:t>STAGE 6 • MERKLE AUDIT LEDGER</a:t>
            </a:r>
          </a:p>
          <a:p>
            <a:pPr>
              <a:spcBef>
                <a:spcPts val="200"/>
              </a:spcBef>
              <a:defRPr sz="1150" b="1">
                <a:solidFill>
                  <a:srgbClr val="FFFFFF"/>
                </a:solidFill>
                <a:latin typeface="Segoe UI"/>
              </a:defRPr>
            </a:pPr>
            <a:r>
              <a:t>Tamper-Proof SHA-256 Chain</a:t>
            </a:r>
          </a:p>
          <a:p>
            <a:pPr>
              <a:spcBef>
                <a:spcPts val="3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Seals doctor ID, drug order, biomarkers, and safety verdict in a Merkle tree satisfying HIPAA § 164.312(b).</a:t>
            </a:r>
          </a:p>
          <a:p>
            <a:pPr>
              <a:spcBef>
                <a:spcPts val="300"/>
              </a:spcBef>
              <a:defRPr sz="900" b="1">
                <a:solidFill>
                  <a:srgbClr val="34D399"/>
                </a:solidFill>
                <a:latin typeface="Segoe UI"/>
              </a:defRPr>
            </a:pPr>
            <a:r>
              <a:t>Owner: Person A: Rishikgowda SM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10725912" cy="868680"/>
          </a:xfrm>
          <a:prstGeom prst="roundRect">
            <a:avLst/>
          </a:prstGeom>
          <a:solidFill>
            <a:srgbClr val="0E162A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defRPr sz="1000" b="1">
                <a:solidFill>
                  <a:srgbClr val="14B8A6"/>
                </a:solidFill>
                <a:latin typeface="Segoe UI"/>
              </a:defRPr>
            </a:pPr>
            <a:r>
              <a:t>CORE SOVEREIGN TECHNOLOGIES: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  <a:latin typeface="Segoe UI"/>
              </a:defRPr>
            </a:pPr>
            <a:r>
              <a:t>FastAPI • Uvicorn • SQLite WAL Concurrency • RapidOCR (ONNX Runtime) • Ollama (llama3.2:3b) • Chart.js • HL7 FHIR R4 • Base64+zlib Optical QR • PBKDF2 JWT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CORE TECHNICAL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The Deterministic-Override Safety Architecture: Zero Hallucinations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943600" cy="2240280"/>
          </a:xfrm>
          <a:prstGeom prst="roundRect">
            <a:avLst/>
          </a:prstGeom>
          <a:solidFill>
            <a:srgbClr val="111C35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LAYER 1: DETERMINISTIC PHARMACOLOGY MATRIX (SQLite)</a:t>
            </a:r>
          </a:p>
          <a:p>
            <a:pPr>
              <a:spcBef>
                <a:spcPts val="200"/>
              </a:spcBef>
              <a:defRPr sz="1000">
                <a:solidFill>
                  <a:srgbClr val="FFFFFF"/>
                </a:solidFill>
                <a:latin typeface="Segoe UI"/>
              </a:defRPr>
            </a:pPr>
            <a:r>
              <a:t>• Hardcoded drug-disease, drug-drug, and cross-reactive allergy matrices.</a:t>
            </a:r>
          </a:p>
          <a:p>
            <a:pPr>
              <a:spcBef>
                <a:spcPts val="200"/>
              </a:spcBef>
              <a:defRPr sz="1000">
                <a:solidFill>
                  <a:srgbClr val="FFFFFF"/>
                </a:solidFill>
                <a:latin typeface="Segoe UI"/>
              </a:defRPr>
            </a:pPr>
            <a:r>
              <a:t>• Calculates Cockcroft-Gault Creatinine Clearance (CrCl) &amp; AGS Beers 2023 elderly criteria.</a:t>
            </a:r>
          </a:p>
          <a:p>
            <a:pPr>
              <a:spcBef>
                <a:spcPts val="200"/>
              </a:spcBef>
              <a:defRPr sz="1000">
                <a:solidFill>
                  <a:srgbClr val="FFFFFF"/>
                </a:solidFill>
                <a:latin typeface="Segoe UI"/>
              </a:defRPr>
            </a:pPr>
            <a:r>
              <a:t>• Quantitative lab cutoffs: eGFR &lt; 30 (lactic acidosis), K+ &gt; 5.0 (hyperkalemia), INR &gt; 3.5 (bleeding).</a:t>
            </a:r>
          </a:p>
          <a:p>
            <a:pPr>
              <a:spcBef>
                <a:spcPts val="200"/>
              </a:spcBef>
              <a:defRPr sz="1000">
                <a:solidFill>
                  <a:srgbClr val="FFFFFF"/>
                </a:solidFill>
                <a:latin typeface="Segoe UI"/>
              </a:defRPr>
            </a:pPr>
            <a:r>
              <a:t>• VERDICT IS UNCONDITIONAL &amp; FINAL: Cannot be silenced, overruled, or bypassed by the SLM.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943600" cy="2423160"/>
          </a:xfrm>
          <a:prstGeom prst="roundRect">
            <a:avLst/>
          </a:prstGeom>
          <a:solidFill>
            <a:srgbClr val="111C35"/>
          </a:solidFill>
          <a:ln w="228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spcAft>
                <a:spcPts val="4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LAYER 2: LOCAL SLM REASONING BRIDGE (Ollama llama3.2:3b)</a:t>
            </a:r>
          </a:p>
          <a:p>
            <a:pPr>
              <a:spcBef>
                <a:spcPts val="200"/>
              </a:spcBef>
              <a:defRPr sz="1000">
                <a:solidFill>
                  <a:srgbClr val="FFFFFF"/>
                </a:solidFill>
                <a:latin typeface="Segoe UI"/>
              </a:defRPr>
            </a:pPr>
            <a:r>
              <a:t>• Synthesizes natural-language biochemical mechanisms for physician review.</a:t>
            </a:r>
          </a:p>
          <a:p>
            <a:pPr>
              <a:spcBef>
                <a:spcPts val="200"/>
              </a:spcBef>
              <a:defRPr sz="1000">
                <a:solidFill>
                  <a:srgbClr val="FFFFFF"/>
                </a:solidFill>
                <a:latin typeface="Segoe UI"/>
              </a:defRPr>
            </a:pPr>
            <a:r>
              <a:t>• Explains cellular pathophysiology (e.g., COX-1/2 prostaglandin inhibition in afferent arterioles).</a:t>
            </a:r>
          </a:p>
          <a:p>
            <a:pPr>
              <a:spcBef>
                <a:spcPts val="200"/>
              </a:spcBef>
              <a:defRPr sz="1000">
                <a:solidFill>
                  <a:srgbClr val="FFFFFF"/>
                </a:solidFill>
                <a:latin typeface="Segoe UI"/>
              </a:defRPr>
            </a:pPr>
            <a:r>
              <a:t>• Suggests formulary alternatives (e.g., swapping Metformin for Linagliptin in CKD Stage 4).</a:t>
            </a:r>
          </a:p>
          <a:p>
            <a:pPr>
              <a:spcBef>
                <a:spcPts val="200"/>
              </a:spcBef>
              <a:defRPr sz="1000">
                <a:solidFill>
                  <a:srgbClr val="FFFFFF"/>
                </a:solidFill>
                <a:latin typeface="Segoe UI"/>
              </a:defRPr>
            </a:pPr>
            <a:r>
              <a:t>• THE SLM CAN NEVER INTRODUCE A SAFETY CLEARANCE ON ITS OWN. (Zero hallucination risk).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417320"/>
            <a:ext cx="4507992" cy="4846320"/>
          </a:xfrm>
          <a:prstGeom prst="roundRect">
            <a:avLst/>
          </a:prstGeom>
          <a:solidFill>
            <a:srgbClr val="111C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spcAft>
                <a:spcPts val="800"/>
              </a:spcAft>
              <a:defRPr sz="1200" b="1">
                <a:solidFill>
                  <a:srgbClr val="F59E0B"/>
                </a:solidFill>
                <a:latin typeface="Segoe UI"/>
              </a:defRPr>
            </a:pPr>
            <a:r>
              <a:t>WHY THIS IS OUR #1 WINNING TALKING POINT</a:t>
            </a:r>
          </a:p>
          <a:p>
            <a:pPr>
              <a:spcBef>
                <a:spcPts val="6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1. Eliminates the Hallucination Dilemma:</a:t>
            </a:r>
          </a:p>
          <a:p>
            <a:pPr>
              <a:spcBef>
                <a:spcPts val="2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Judges consistently ask: 'What if the LLM hallucinates?' In MediVault, the SLM never determines the safety verdict. The deterministic layer establishes ground truth first.</a:t>
            </a:r>
          </a:p>
          <a:p>
            <a:pPr>
              <a:spcBef>
                <a:spcPts val="6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2. Zero-Downtime Deterministic Fallback:</a:t>
            </a:r>
          </a:p>
          <a:p>
            <a:pPr>
              <a:spcBef>
                <a:spcPts val="2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If Ollama is terminated, offline, or running on low-resource clinical hardware, the system seamlessly uses built-in deterministic synthesis rules with 0ms downtime.</a:t>
            </a:r>
          </a:p>
          <a:p>
            <a:pPr>
              <a:spcBef>
                <a:spcPts val="6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3. Regulatory CDSS Class II Alignment:</a:t>
            </a:r>
          </a:p>
          <a:p>
            <a:pPr>
              <a:spcBef>
                <a:spcPts val="2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Meets FDA CDSS guidelines where autonomous, uncontrolled black-box text generation is legally unacceptable for clinical order validation.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PRODUCT EXPERIENCE &amp; 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The Physician CDSS Dashboard &amp; Real-Time Contraindication Triage</a:t>
            </a:r>
          </a:p>
        </p:txBody>
      </p:sp>
      <p:pic>
        <p:nvPicPr>
          <p:cNvPr id="5" name="Picture 4" descr="sovereign_clinical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5120640" cy="3017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17720"/>
            <a:ext cx="5120640" cy="164592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defRPr sz="1050" b="1">
                <a:solidFill>
                  <a:srgbClr val="F59E0B"/>
                </a:solidFill>
                <a:latin typeface="Segoe UI"/>
              </a:defRPr>
            </a:pPr>
            <a:r>
              <a:t>PHYSICIAN UX &amp; PRODUCTIVITY SHORTCUTS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  <a:latin typeface="Segoe UI"/>
              </a:defRPr>
            </a:pPr>
            <a:r>
              <a:t>• Ctrl+1..5: Fast navigation across CDSS, Ingestion, QR Sandbox, Audit, &amp; Analytics.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  <a:latin typeface="Segoe UI"/>
              </a:defRPr>
            </a:pPr>
            <a:r>
              <a:t>• Ctrl+6: Instant Judge Demo Crisis Runner (1-click triggers for CKD, Triple Whammy, Allergy, Warfarin).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  <a:latin typeface="Segoe UI"/>
              </a:defRPr>
            </a:pPr>
            <a:r>
              <a:t>• Latency: Under 50ms per clinical evaluation; 0 bytes outbound.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5330952" cy="4846320"/>
          </a:xfrm>
          <a:prstGeom prst="roundRect">
            <a:avLst/>
          </a:prstGeom>
          <a:solidFill>
            <a:srgbClr val="111C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spcAft>
                <a:spcPts val="400"/>
              </a:spcAft>
              <a:defRPr sz="1200" b="1">
                <a:solidFill>
                  <a:srgbClr val="06B6D4"/>
                </a:solidFill>
                <a:latin typeface="Segoe UI"/>
              </a:defRPr>
            </a:pPr>
            <a:r>
              <a:t>LIVE DEMONSTRATION BEATS FOR JUDGES</a:t>
            </a:r>
          </a:p>
          <a:p>
            <a:pPr>
              <a:spcBef>
                <a:spcPts val="600"/>
              </a:spcBef>
              <a:defRPr sz="1050" b="1">
                <a:solidFill>
                  <a:srgbClr val="10B981"/>
                </a:solidFill>
                <a:latin typeface="Segoe UI"/>
              </a:defRPr>
            </a:pPr>
            <a:r>
              <a:t>BEAT 1: The Air-Gap Kill Move</a:t>
            </a:r>
          </a:p>
          <a:p>
            <a:pPr>
              <a:spcBef>
                <a:spcPts val="2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Sever Wi-Fi live in front of judges. The pulsing green indicator confirms: 'AIR-GAPPED: 0 BYTES TRANSMITTED (127.0.0.1)'. Refresh page—everything runs on localhost.</a:t>
            </a:r>
          </a:p>
          <a:p>
            <a:pPr>
              <a:spcBef>
                <a:spcPts val="600"/>
              </a:spcBef>
              <a:defRPr sz="1050" b="1">
                <a:solidFill>
                  <a:srgbClr val="10B981"/>
                </a:solidFill>
                <a:latin typeface="Segoe UI"/>
              </a:defRPr>
            </a:pPr>
            <a:r>
              <a:t>BEAT 2: Brand Normalization &amp; Alert</a:t>
            </a:r>
          </a:p>
          <a:p>
            <a:pPr>
              <a:spcBef>
                <a:spcPts val="2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Doctor inputs 'Advil 400mg'. System normalizes to Ibuprofen, flags Stage 3 CKD nephrotoxicity (🔴 CRITICAL), and calculates toxic plasma accumulation.</a:t>
            </a:r>
          </a:p>
          <a:p>
            <a:pPr>
              <a:spcBef>
                <a:spcPts val="600"/>
              </a:spcBef>
              <a:defRPr sz="1050" b="1">
                <a:solidFill>
                  <a:srgbClr val="10B981"/>
                </a:solidFill>
                <a:latin typeface="Segoe UI"/>
              </a:defRPr>
            </a:pPr>
            <a:r>
              <a:t>BEAT 3: Dynamic PK Accumulation Simulator</a:t>
            </a:r>
          </a:p>
          <a:p>
            <a:pPr>
              <a:spcBef>
                <a:spcPts val="2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Rowland &amp; Tozer renal clearance simulation charts drug plasma accumulation over 72h, warning of toxic ceiling breaches.</a:t>
            </a:r>
          </a:p>
          <a:p>
            <a:pPr>
              <a:spcBef>
                <a:spcPts val="600"/>
              </a:spcBef>
              <a:defRPr sz="1050" b="1">
                <a:solidFill>
                  <a:srgbClr val="10B981"/>
                </a:solidFill>
                <a:latin typeface="Segoe UI"/>
              </a:defRPr>
            </a:pPr>
            <a:r>
              <a:t>BEAT 4: 1-Click Safe Formulary Swap</a:t>
            </a:r>
          </a:p>
          <a:p>
            <a:pPr>
              <a:spcBef>
                <a:spcPts val="2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Clinician clicks '1-Click Swap' to Acetaminophen 500mg. CDSS immediately re-evaluates and clears: 🟢 PRESCRIPTION CLEARED (SAFE).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SECURITY, INTEROPERABILITY &amp; CRYPTOGRAPHY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Optical Air-Gap Transfer &amp; Cryptographic Merkle Audit Ledger</a:t>
            </a:r>
          </a:p>
        </p:txBody>
      </p:sp>
      <p:pic>
        <p:nvPicPr>
          <p:cNvPr id="5" name="Picture 4" descr="merkle_airgap_va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5120640" cy="3017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17720"/>
            <a:ext cx="5120640" cy="1645920"/>
          </a:xfrm>
          <a:prstGeom prst="roundRect">
            <a:avLst/>
          </a:prstGeom>
          <a:solidFill>
            <a:srgbClr val="111C3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defRPr sz="1050" b="1">
                <a:solidFill>
                  <a:srgbClr val="F59E0B"/>
                </a:solidFill>
                <a:latin typeface="Segoe UI"/>
              </a:defRPr>
            </a:pPr>
            <a:r>
              <a:t>OFFICIAL HOSPITAL CLEARANCE CERTIFICATE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  <a:latin typeface="Segoe UI"/>
              </a:defRPr>
            </a:pPr>
            <a:r>
              <a:t>Clinicians generate printable legal clearance certificates with embedded SHA-256 Merkle proofs, verified against local hospital ledgers to prevent counterfeit prescriptions.</a:t>
            </a:r>
          </a:p>
          <a:p>
            <a:pPr>
              <a:spcBef>
                <a:spcPts val="200"/>
              </a:spcBef>
              <a:defRPr sz="900">
                <a:solidFill>
                  <a:srgbClr val="34D399"/>
                </a:solidFill>
                <a:latin typeface="Segoe UI"/>
              </a:defRPr>
            </a:pPr>
            <a:r>
              <a:t>• Compliant with HIPAA § 164.312(b) &amp; India DPDP Act 2023.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5330952" cy="4846320"/>
          </a:xfrm>
          <a:prstGeom prst="roundRect">
            <a:avLst/>
          </a:prstGeom>
          <a:solidFill>
            <a:srgbClr val="111C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spcAft>
                <a:spcPts val="400"/>
              </a:spcAft>
              <a:defRPr sz="1200" b="1">
                <a:solidFill>
                  <a:srgbClr val="06B6D4"/>
                </a:solidFill>
                <a:latin typeface="Segoe UI"/>
              </a:defRPr>
            </a:pPr>
            <a:r>
              <a:t>TAMPER-PROOF AUDIT &amp; AIR-GAP INTEROPERABILITY</a:t>
            </a:r>
          </a:p>
          <a:p>
            <a:pPr>
              <a:spcBef>
                <a:spcPts val="600"/>
              </a:spcBef>
              <a:defRPr sz="1050" b="1">
                <a:solidFill>
                  <a:srgbClr val="10B981"/>
                </a:solidFill>
                <a:latin typeface="Segoe UI"/>
              </a:defRPr>
            </a:pPr>
            <a:r>
              <a:t>HIPAA Security Rule § 164.312(b) Compliance</a:t>
            </a:r>
          </a:p>
          <a:p>
            <a:pPr>
              <a:spcBef>
                <a:spcPts val="2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Every clinical review seals reviewer ID, anonymized patient hash, prescription, and verdict into an immutable local SHA-256 Merkle chain. Recalculating parent hashes mathematically proves zero historical records were tampered with.</a:t>
            </a:r>
          </a:p>
          <a:p>
            <a:pPr>
              <a:spcBef>
                <a:spcPts val="600"/>
              </a:spcBef>
              <a:defRPr sz="1050" b="1">
                <a:solidFill>
                  <a:srgbClr val="10B981"/>
                </a:solidFill>
                <a:latin typeface="Segoe UI"/>
              </a:defRPr>
            </a:pPr>
            <a:r>
              <a:t>Base64 + zlib Optical Air-Gap QR Transfer</a:t>
            </a:r>
          </a:p>
          <a:p>
            <a:pPr>
              <a:spcBef>
                <a:spcPts val="2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Transfers discharge clearances and clinical bundles across physical air gaps without Wi-Fi, Ethernet, Bluetooth, or USB cables (eliminating malware attack vectors). Cameras scan dynamic SVG QR codes directly from screen to screen.</a:t>
            </a:r>
          </a:p>
          <a:p>
            <a:pPr>
              <a:spcBef>
                <a:spcPts val="600"/>
              </a:spcBef>
              <a:defRPr sz="1050" b="1">
                <a:solidFill>
                  <a:srgbClr val="10B981"/>
                </a:solidFill>
                <a:latin typeface="Segoe UI"/>
              </a:defRPr>
            </a:pPr>
            <a:r>
              <a:t>Enterprise Standards: HL7 FHIR R4 &amp; CDS Hooks</a:t>
            </a:r>
          </a:p>
          <a:p>
            <a:pPr>
              <a:spcBef>
                <a:spcPts val="2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Implements official HL7 CDS Hooks medication-prescribe discovery and generates FHIR R4 Bundles for seamless hospital integration.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ENGINEERING DEPTH &amp;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Four Critical Battles: Engineering Challenges Faced &amp; How We Solved Them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39512" cy="2240280"/>
          </a:xfrm>
          <a:prstGeom prst="roundRect">
            <a:avLst/>
          </a:prstGeom>
          <a:solidFill>
            <a:srgbClr val="111C35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defRPr sz="1050" b="1">
                <a:solidFill>
                  <a:srgbClr val="F43F5E"/>
                </a:solidFill>
                <a:latin typeface="Segoe UI"/>
              </a:defRPr>
            </a:pPr>
            <a:r>
              <a:t>CHALLENGE 1: STOCHASTIC LLM HALLUCINATIONS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  <a:latin typeface="Segoe UI"/>
              </a:defRPr>
            </a:pPr>
            <a:r>
              <a:t>PROBLEM: Local SLMs occasionally overlooked relative contraindications under noisy prompt input, risking patient toxicity.</a:t>
            </a:r>
            <a:br/>
            <a:br/>
            <a:r>
              <a:t>SOLUTION: Engineered a rigid Deterministic Override Gate. The SLM is strictly prohibited from granting clearance if SQLite flags a rule. The model is confined to explanatory synthesis only.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39512" cy="2240280"/>
          </a:xfrm>
          <a:prstGeom prst="roundRect">
            <a:avLst/>
          </a:prstGeom>
          <a:solidFill>
            <a:srgbClr val="111C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defRPr sz="1050" b="1">
                <a:solidFill>
                  <a:srgbClr val="F59E0B"/>
                </a:solidFill>
                <a:latin typeface="Segoe UI"/>
              </a:defRPr>
            </a:pPr>
            <a:r>
              <a:t>CHALLENGE 2: ZERO-CLOUD PAPER OCR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  <a:latin typeface="Segoe UI"/>
              </a:defRPr>
            </a:pPr>
            <a:r>
              <a:t>PROBLEM: Clinics ingest scanned paper prescriptions, but cloud OCR (AWS Textract, Google Vision) violates HIPAA zero-cloud mandates.</a:t>
            </a:r>
            <a:br/>
            <a:br/>
            <a:r>
              <a:t>SOLUTION: Integrated on-device RapidOCR (ONNX runtime) executing entirely in RAM, followed by 18 HIPAA Safe Harbor regex strippers.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39512" cy="2240280"/>
          </a:xfrm>
          <a:prstGeom prst="roundRect">
            <a:avLst/>
          </a:prstGeom>
          <a:solidFill>
            <a:srgbClr val="111C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defRPr sz="1050" b="1">
                <a:solidFill>
                  <a:srgbClr val="06B6D4"/>
                </a:solidFill>
                <a:latin typeface="Segoe UI"/>
              </a:defRPr>
            </a:pPr>
            <a:r>
              <a:t>CHALLENGE 3: DATABASE LOCKS UNDER LOAD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  <a:latin typeface="Segoe UI"/>
              </a:defRPr>
            </a:pPr>
            <a:r>
              <a:t>PROBLEM: Simultaneous multi-ward prescription entries on a single clinic PC caused SQLite database locking errors during audit writes.</a:t>
            </a:r>
            <a:br/>
            <a:br/>
            <a:r>
              <a:t>SOLUTION: Configured SQLite Write-Ahead Logging (WAL) mode with thread-safe connection pooling, verified by stress-testing 12 concurrent reviews with 0 locks.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5239512" cy="2240280"/>
          </a:xfrm>
          <a:prstGeom prst="roundRect">
            <a:avLst/>
          </a:prstGeom>
          <a:solidFill>
            <a:srgbClr val="111C35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defRPr sz="1050" b="1">
                <a:solidFill>
                  <a:srgbClr val="14B8A6"/>
                </a:solidFill>
                <a:latin typeface="Segoe UI"/>
              </a:defRPr>
            </a:pPr>
            <a:r>
              <a:t>CHALLENGE 4: AIR-GAPPED INTEROPERABILITY</a:t>
            </a:r>
          </a:p>
          <a:p>
            <a:pPr>
              <a:spcBef>
                <a:spcPts val="300"/>
              </a:spcBef>
              <a:defRPr sz="950">
                <a:solidFill>
                  <a:srgbClr val="FFFFFF"/>
                </a:solidFill>
                <a:latin typeface="Segoe UI"/>
              </a:defRPr>
            </a:pPr>
            <a:r>
              <a:t>PROBLEM: Transferring clinical summaries between isolated wards without permitting USB thumb drives (malware risk) or network sockets.</a:t>
            </a:r>
            <a:br/>
            <a:br/>
            <a:r>
              <a:t>SOLUTION: Designed Base64 + zlib compressed optical SVG QR codes for camera-to-screen air-gapped data transmission.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ASYNC'26 EVALUATION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Judging Scorecard: 100% Target Met Across All Five Competition Criteria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057400" cy="3931920"/>
          </a:xfrm>
          <a:prstGeom prst="roundRect">
            <a:avLst/>
          </a:prstGeom>
          <a:solidFill>
            <a:srgbClr val="111C35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30%</a:t>
            </a:r>
          </a:p>
          <a:p>
            <a:pPr>
              <a:spcBef>
                <a:spcPts val="200"/>
              </a:spcBef>
              <a:defRPr sz="1150" b="1">
                <a:solidFill>
                  <a:srgbClr val="FFFFFF"/>
                </a:solidFill>
                <a:latin typeface="Segoe UI"/>
              </a:defRPr>
            </a:pPr>
            <a:r>
              <a:t>Technical Execution</a:t>
            </a:r>
          </a:p>
          <a:p>
            <a:pPr>
              <a:spcBef>
                <a:spcPts val="4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• 117/117 automated tests across 17 test modules.</a:t>
            </a:r>
            <a:br/>
            <a:r>
              <a:t>• Rowland &amp; Tozer PK model.</a:t>
            </a:r>
            <a:br/>
            <a:r>
              <a:t>• SQLite WAL multi-threading (0 locks).</a:t>
            </a:r>
            <a:br/>
            <a:r>
              <a:t>• Zero-cloud loopback network assertions.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1417320"/>
            <a:ext cx="2057400" cy="3931920"/>
          </a:xfrm>
          <a:prstGeom prst="roundRect">
            <a:avLst/>
          </a:prstGeom>
          <a:solidFill>
            <a:srgbClr val="111C35"/>
          </a:solidFill>
          <a:ln w="228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20%</a:t>
            </a:r>
          </a:p>
          <a:p>
            <a:pPr>
              <a:spcBef>
                <a:spcPts val="200"/>
              </a:spcBef>
              <a:defRPr sz="1150" b="1">
                <a:solidFill>
                  <a:srgbClr val="FFFFFF"/>
                </a:solidFill>
                <a:latin typeface="Segoe UI"/>
              </a:defRPr>
            </a:pPr>
            <a:r>
              <a:t>Innovation</a:t>
            </a:r>
          </a:p>
          <a:p>
            <a:pPr>
              <a:spcBef>
                <a:spcPts val="4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• Deterministic SLM override architecture.</a:t>
            </a:r>
            <a:br/>
            <a:r>
              <a:t>• Optical air-gap SVG QR data transfer.</a:t>
            </a:r>
            <a:br/>
            <a:r>
              <a:t>• Local SHA-256 Merkle audit ledger.</a:t>
            </a:r>
            <a:br/>
            <a:r>
              <a:t>• On-device RapidOCR extraction.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1417320"/>
            <a:ext cx="2057400" cy="3931920"/>
          </a:xfrm>
          <a:prstGeom prst="roundRect">
            <a:avLst/>
          </a:prstGeom>
          <a:solidFill>
            <a:srgbClr val="111C35"/>
          </a:solidFill>
          <a:ln w="2286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defRPr sz="1500" b="1">
                <a:solidFill>
                  <a:srgbClr val="14B8A6"/>
                </a:solidFill>
                <a:latin typeface="Segoe UI"/>
              </a:defRPr>
            </a:pPr>
            <a:r>
              <a:t>20%</a:t>
            </a:r>
          </a:p>
          <a:p>
            <a:pPr>
              <a:spcBef>
                <a:spcPts val="200"/>
              </a:spcBef>
              <a:defRPr sz="1150" b="1">
                <a:solidFill>
                  <a:srgbClr val="FFFFFF"/>
                </a:solidFill>
                <a:latin typeface="Segoe UI"/>
              </a:defRPr>
            </a:pPr>
            <a:r>
              <a:t>Clinical Impact</a:t>
            </a:r>
          </a:p>
          <a:p>
            <a:pPr>
              <a:spcBef>
                <a:spcPts val="4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• Prevents fatal ADEs (Triple Whammy, QTc, Anaphylaxis).</a:t>
            </a:r>
            <a:br/>
            <a:r>
              <a:t>• Enables AI for hospitals legally barred from cloud.</a:t>
            </a:r>
            <a:br/>
            <a:r>
              <a:t>• ₹0 software licensing fees for rural clinics.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1417320"/>
            <a:ext cx="2057400" cy="3931920"/>
          </a:xfrm>
          <a:prstGeom prst="roundRect">
            <a:avLst/>
          </a:prstGeom>
          <a:solidFill>
            <a:srgbClr val="111C35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15%</a:t>
            </a:r>
          </a:p>
          <a:p>
            <a:pPr>
              <a:spcBef>
                <a:spcPts val="200"/>
              </a:spcBef>
              <a:defRPr sz="1150" b="1">
                <a:solidFill>
                  <a:srgbClr val="FFFFFF"/>
                </a:solidFill>
                <a:latin typeface="Segoe UI"/>
              </a:defRPr>
            </a:pPr>
            <a:r>
              <a:t>Product Experience</a:t>
            </a:r>
          </a:p>
          <a:p>
            <a:pPr>
              <a:spcBef>
                <a:spcPts val="4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• Physician station with hotkeys (Ctrl+1..6).</a:t>
            </a:r>
            <a:br/>
            <a:r>
              <a:t>• Accessible Patient Portal with plain-English lab translations.</a:t>
            </a:r>
            <a:br/>
            <a:r>
              <a:t>• Printable hospital certificate with QR.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6608" y="1417320"/>
            <a:ext cx="2057400" cy="3931920"/>
          </a:xfrm>
          <a:prstGeom prst="roundRect">
            <a:avLst/>
          </a:prstGeom>
          <a:solidFill>
            <a:srgbClr val="111C35"/>
          </a:solidFill>
          <a:ln w="228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defRPr sz="1500" b="1">
                <a:solidFill>
                  <a:srgbClr val="A855F7"/>
                </a:solidFill>
                <a:latin typeface="Segoe UI"/>
              </a:defRPr>
            </a:pPr>
            <a:r>
              <a:t>15%</a:t>
            </a:r>
          </a:p>
          <a:p>
            <a:pPr>
              <a:spcBef>
                <a:spcPts val="200"/>
              </a:spcBef>
              <a:defRPr sz="1150" b="1">
                <a:solidFill>
                  <a:srgbClr val="FFFFFF"/>
                </a:solidFill>
                <a:latin typeface="Segoe UI"/>
              </a:defRPr>
            </a:pPr>
            <a:r>
              <a:t>Completeness</a:t>
            </a:r>
          </a:p>
          <a:p>
            <a:pPr>
              <a:spcBef>
                <a:spcPts val="4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• 1-click run_demo.bat launcher.</a:t>
            </a:r>
            <a:br/>
            <a:r>
              <a:t>• Interactive Judge Demo Crisis Suite (Ctrl+6).</a:t>
            </a:r>
            <a:br/>
            <a:r>
              <a:t>• 1-click run_tests.bat test suite.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32120"/>
            <a:ext cx="10725912" cy="868680"/>
          </a:xfrm>
          <a:prstGeom prst="roundRect">
            <a:avLst/>
          </a:prstGeom>
          <a:solidFill>
            <a:srgbClr val="05080E"/>
          </a:solidFill>
          <a:ln w="1524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defRPr sz="950">
                <a:solidFill>
                  <a:srgbClr val="06B6D4"/>
                </a:solidFill>
                <a:latin typeface="Consolas"/>
              </a:defRPr>
            </a:pPr>
            <a:r>
              <a:t>VERIFICATION SUITE: python -m unittest discover -s tests -p '*.py'</a:t>
            </a:r>
          </a:p>
          <a:p>
            <a:pPr>
              <a:spcBef>
                <a:spcPts val="200"/>
              </a:spcBef>
              <a:defRPr sz="1050" b="1">
                <a:solidFill>
                  <a:srgbClr val="10B981"/>
                </a:solidFill>
                <a:latin typeface="Segoe UI"/>
              </a:defRPr>
            </a:pPr>
            <a:r>
              <a:t>Ran 117 tests across 17 clinical modules • 117 PASSED, 0 FAILED • Zero Cloud Egress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14B8A6"/>
                </a:solidFill>
                <a:latin typeface="Segoe UI"/>
              </a:defRPr>
            </a:pPr>
            <a:r>
              <a:t>FUTURE HORIZON &amp; PITCH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Segoe UI"/>
              </a:defRPr>
            </a:pPr>
            <a:r>
              <a:t>Sovereignty is Clinical Reliability: Roadmap &amp; Team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39512" cy="3977639"/>
          </a:xfrm>
          <a:prstGeom prst="roundRect">
            <a:avLst/>
          </a:prstGeom>
          <a:solidFill>
            <a:srgbClr val="111C35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spcAft>
                <a:spcPts val="400"/>
              </a:spcAft>
              <a:defRPr sz="1150" b="1">
                <a:solidFill>
                  <a:srgbClr val="14B8A6"/>
                </a:solidFill>
                <a:latin typeface="Segoe UI"/>
              </a:defRPr>
            </a:pPr>
            <a:r>
              <a:t>TEAM VOID_CODERS DIVISION OF LABOR</a:t>
            </a:r>
          </a:p>
          <a:p>
            <a:pPr>
              <a:spcBef>
                <a:spcPts val="500"/>
              </a:spcBef>
              <a:defRPr sz="1000" b="1">
                <a:solidFill>
                  <a:srgbClr val="14B8A6"/>
                </a:solidFill>
                <a:latin typeface="Segoe UI"/>
              </a:defRPr>
            </a:pPr>
            <a:r>
              <a:t>Person A (Lead): Rishikgowda SM</a:t>
            </a:r>
          </a:p>
          <a:p>
            <a:pPr>
              <a:spcBef>
                <a:spcPts val="1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FastAPI architecture, SQLite WAL concurrency, thread-safe SHA-256 Merkle audit logger, repo orchestration.</a:t>
            </a:r>
          </a:p>
          <a:p>
            <a:pPr>
              <a:spcBef>
                <a:spcPts val="500"/>
              </a:spcBef>
              <a:defRPr sz="1000" b="1">
                <a:solidFill>
                  <a:srgbClr val="10B981"/>
                </a:solidFill>
                <a:latin typeface="Segoe UI"/>
              </a:defRPr>
            </a:pPr>
            <a:r>
              <a:t>Person B: Rakshith DA</a:t>
            </a:r>
          </a:p>
          <a:p>
            <a:pPr>
              <a:spcBef>
                <a:spcPts val="1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Data ingestion pipeline, PyMuPDF extraction, 18 HIPAA Safe Harbor PHI redactions, RapidOCR on-device parser.</a:t>
            </a:r>
          </a:p>
          <a:p>
            <a:pPr>
              <a:spcBef>
                <a:spcPts val="500"/>
              </a:spcBef>
              <a:defRPr sz="1000" b="1">
                <a:solidFill>
                  <a:srgbClr val="06B6D4"/>
                </a:solidFill>
                <a:latin typeface="Segoe UI"/>
              </a:defRPr>
            </a:pPr>
            <a:r>
              <a:t>Person C: Kushal M</a:t>
            </a:r>
          </a:p>
          <a:p>
            <a:pPr>
              <a:spcBef>
                <a:spcPts val="1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Deterministic pharmacology knowledge engine, Rowland &amp; Tozer PK simulator, Beers 2023 criteria, Ollama SLM bridge.</a:t>
            </a:r>
          </a:p>
          <a:p>
            <a:pPr>
              <a:spcBef>
                <a:spcPts val="500"/>
              </a:spcBef>
              <a:defRPr sz="1000" b="1">
                <a:solidFill>
                  <a:srgbClr val="F59E0B"/>
                </a:solidFill>
                <a:latin typeface="Segoe UI"/>
              </a:defRPr>
            </a:pPr>
            <a:r>
              <a:t>Person D: Sujan MB</a:t>
            </a:r>
          </a:p>
          <a:p>
            <a:pPr>
              <a:spcBef>
                <a:spcPts val="1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Physician workstation UI, patient portal, Judge Demo Crisis Suite, accessibility, QA checklists, &amp; pitch demo.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39512" cy="3977639"/>
          </a:xfrm>
          <a:prstGeom prst="roundRect">
            <a:avLst/>
          </a:prstGeom>
          <a:solidFill>
            <a:srgbClr val="111C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spcAft>
                <a:spcPts val="400"/>
              </a:spcAft>
              <a:defRPr sz="1150" b="1">
                <a:solidFill>
                  <a:srgbClr val="06B6D4"/>
                </a:solidFill>
                <a:latin typeface="Segoe UI"/>
              </a:defRPr>
            </a:pPr>
            <a:r>
              <a:t>POST-HACKATHON PRODUCTION ROADMAP</a:t>
            </a:r>
          </a:p>
          <a:p>
            <a:pPr>
              <a:spcBef>
                <a:spcPts val="6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1. On-Premises Hospital EHR Connectors</a:t>
            </a:r>
          </a:p>
          <a:p>
            <a:pPr>
              <a:spcBef>
                <a:spcPts val="2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Direct HL7 v2 and FHIR subscription adapters for Cerner, Epic, and open-source OpenMRS without external network egress.</a:t>
            </a:r>
          </a:p>
          <a:p>
            <a:pPr>
              <a:spcBef>
                <a:spcPts val="6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2. Pharmacogenomics (PGx) Matrix</a:t>
            </a:r>
          </a:p>
          <a:p>
            <a:pPr>
              <a:spcBef>
                <a:spcPts val="2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Integrating patient CYP2D6 and CYP2C19 gene metabolizer phenotypes for personalized dosage contraindication analysis.</a:t>
            </a:r>
          </a:p>
          <a:p>
            <a:pPr>
              <a:spcBef>
                <a:spcPts val="6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3. Edge Hardware Triage Appliance</a:t>
            </a:r>
          </a:p>
          <a:p>
            <a:pPr>
              <a:spcBef>
                <a:spcPts val="200"/>
              </a:spcBef>
              <a:defRPr sz="950">
                <a:solidFill>
                  <a:srgbClr val="9CAFC9"/>
                </a:solidFill>
                <a:latin typeface="Segoe UI"/>
              </a:defRPr>
            </a:pPr>
            <a:r>
              <a:t>Packaging MediVault Local onto ruggedized Raspberry Pi 5 / NVIDIA Jetson devices for field military triage and rural clinics.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32120"/>
            <a:ext cx="10725912" cy="868680"/>
          </a:xfrm>
          <a:prstGeom prst="roundRect">
            <a:avLst/>
          </a:prstGeom>
          <a:solidFill>
            <a:srgbClr val="0A191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37160" lIns="182880" rIns="182880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"NO CLOUD. NO HALLUCINATIONS. NO DATA LEAKS."</a:t>
            </a:r>
          </a:p>
          <a:p>
            <a:pPr algn="ctr">
              <a:spcBef>
                <a:spcPts val="200"/>
              </a:spcBef>
              <a:defRPr sz="1050">
                <a:solidFill>
                  <a:srgbClr val="FFFFFF"/>
                </a:solidFill>
                <a:latin typeface="Segoe UI"/>
              </a:defRPr>
            </a:pPr>
            <a:r>
              <a:t>True Sovereign AI isn't just about privacy—it's about saving patient lives when the world is completely offline.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